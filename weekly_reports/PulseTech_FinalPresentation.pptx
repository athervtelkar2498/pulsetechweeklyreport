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2" r:id="rId6"/>
    <p:sldId id="260" r:id="rId7"/>
    <p:sldId id="262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4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5A0926-C4AE-4775-B8B8-430394B4E69C}" v="20" dt="2026-06-17T14:35:18.7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7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ey Telkar" userId="70d22fad198cf345" providerId="LiveId" clId="{BF95A47B-7F6F-44A4-92D9-5893FD2D65F9}"/>
    <pc:docChg chg="custSel addSld delSld modSld sldOrd">
      <pc:chgData name="Amey Telkar" userId="70d22fad198cf345" providerId="LiveId" clId="{BF95A47B-7F6F-44A4-92D9-5893FD2D65F9}" dt="2026-06-18T04:26:18.087" v="324" actId="20577"/>
      <pc:docMkLst>
        <pc:docMk/>
      </pc:docMkLst>
      <pc:sldChg chg="modSp mod">
        <pc:chgData name="Amey Telkar" userId="70d22fad198cf345" providerId="LiveId" clId="{BF95A47B-7F6F-44A4-92D9-5893FD2D65F9}" dt="2026-06-17T14:11:59.316" v="12" actId="403"/>
        <pc:sldMkLst>
          <pc:docMk/>
          <pc:sldMk cId="0" sldId="259"/>
        </pc:sldMkLst>
        <pc:spChg chg="mod">
          <ac:chgData name="Amey Telkar" userId="70d22fad198cf345" providerId="LiveId" clId="{BF95A47B-7F6F-44A4-92D9-5893FD2D65F9}" dt="2026-06-17T14:11:42.803" v="4" actId="403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11:51.244" v="8" actId="403"/>
          <ac:spMkLst>
            <pc:docMk/>
            <pc:sldMk cId="0" sldId="259"/>
            <ac:spMk id="17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11:59.316" v="12" actId="403"/>
          <ac:spMkLst>
            <pc:docMk/>
            <pc:sldMk cId="0" sldId="259"/>
            <ac:spMk id="23" creationId="{00000000-0000-0000-0000-000000000000}"/>
          </ac:spMkLst>
        </pc:spChg>
      </pc:sldChg>
      <pc:sldChg chg="addSp delSp modSp mod">
        <pc:chgData name="Amey Telkar" userId="70d22fad198cf345" providerId="LiveId" clId="{BF95A47B-7F6F-44A4-92D9-5893FD2D65F9}" dt="2026-06-17T14:16:40.912" v="63" actId="1076"/>
        <pc:sldMkLst>
          <pc:docMk/>
          <pc:sldMk cId="0" sldId="260"/>
        </pc:sldMkLst>
        <pc:spChg chg="mod">
          <ac:chgData name="Amey Telkar" userId="70d22fad198cf345" providerId="LiveId" clId="{BF95A47B-7F6F-44A4-92D9-5893FD2D65F9}" dt="2026-06-17T14:12:15.299" v="14" actId="403"/>
          <ac:spMkLst>
            <pc:docMk/>
            <pc:sldMk cId="0" sldId="260"/>
            <ac:spMk id="40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12:27.971" v="18" actId="403"/>
          <ac:spMkLst>
            <pc:docMk/>
            <pc:sldMk cId="0" sldId="260"/>
            <ac:spMk id="44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12:59.339" v="22" actId="403"/>
          <ac:spMkLst>
            <pc:docMk/>
            <pc:sldMk cId="0" sldId="260"/>
            <ac:spMk id="48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13:08.876" v="26" actId="403"/>
          <ac:spMkLst>
            <pc:docMk/>
            <pc:sldMk cId="0" sldId="260"/>
            <ac:spMk id="52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13:20.090" v="30" actId="403"/>
          <ac:spMkLst>
            <pc:docMk/>
            <pc:sldMk cId="0" sldId="260"/>
            <ac:spMk id="56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13:33.579" v="38" actId="403"/>
          <ac:spMkLst>
            <pc:docMk/>
            <pc:sldMk cId="0" sldId="260"/>
            <ac:spMk id="60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13:42.861" v="42" actId="403"/>
          <ac:spMkLst>
            <pc:docMk/>
            <pc:sldMk cId="0" sldId="260"/>
            <ac:spMk id="64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13:49.116" v="46" actId="403"/>
          <ac:spMkLst>
            <pc:docMk/>
            <pc:sldMk cId="0" sldId="260"/>
            <ac:spMk id="68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13:55.224" v="50" actId="403"/>
          <ac:spMkLst>
            <pc:docMk/>
            <pc:sldMk cId="0" sldId="260"/>
            <ac:spMk id="72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14:01.293" v="54" actId="403"/>
          <ac:spMkLst>
            <pc:docMk/>
            <pc:sldMk cId="0" sldId="260"/>
            <ac:spMk id="76" creationId="{00000000-0000-0000-0000-000000000000}"/>
          </ac:spMkLst>
        </pc:spChg>
        <pc:picChg chg="add del mod">
          <ac:chgData name="Amey Telkar" userId="70d22fad198cf345" providerId="LiveId" clId="{BF95A47B-7F6F-44A4-92D9-5893FD2D65F9}" dt="2026-06-17T14:15:36.086" v="58" actId="21"/>
          <ac:picMkLst>
            <pc:docMk/>
            <pc:sldMk cId="0" sldId="260"/>
            <ac:picMk id="78" creationId="{3F09B1F8-860F-B225-C045-10B4610AEF4C}"/>
          </ac:picMkLst>
        </pc:picChg>
        <pc:picChg chg="add mod">
          <ac:chgData name="Amey Telkar" userId="70d22fad198cf345" providerId="LiveId" clId="{BF95A47B-7F6F-44A4-92D9-5893FD2D65F9}" dt="2026-06-17T14:16:40.912" v="63" actId="1076"/>
          <ac:picMkLst>
            <pc:docMk/>
            <pc:sldMk cId="0" sldId="260"/>
            <ac:picMk id="80" creationId="{F09731CD-3653-B2EE-39F0-DE8336AD87B8}"/>
          </ac:picMkLst>
        </pc:picChg>
      </pc:sldChg>
      <pc:sldChg chg="addSp modSp del mod">
        <pc:chgData name="Amey Telkar" userId="70d22fad198cf345" providerId="LiveId" clId="{BF95A47B-7F6F-44A4-92D9-5893FD2D65F9}" dt="2026-06-17T14:24:42.505" v="174" actId="2696"/>
        <pc:sldMkLst>
          <pc:docMk/>
          <pc:sldMk cId="0" sldId="261"/>
        </pc:sldMkLst>
        <pc:spChg chg="mod">
          <ac:chgData name="Amey Telkar" userId="70d22fad198cf345" providerId="LiveId" clId="{BF95A47B-7F6F-44A4-92D9-5893FD2D65F9}" dt="2026-06-17T14:17:12.427" v="66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17:21.862" v="70" actId="403"/>
          <ac:spMkLst>
            <pc:docMk/>
            <pc:sldMk cId="0" sldId="261"/>
            <ac:spMk id="13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17:07.818" v="65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17:29.125" v="74" actId="403"/>
          <ac:spMkLst>
            <pc:docMk/>
            <pc:sldMk cId="0" sldId="261"/>
            <ac:spMk id="19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17:36.487" v="78" actId="403"/>
          <ac:spMkLst>
            <pc:docMk/>
            <pc:sldMk cId="0" sldId="261"/>
            <ac:spMk id="25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17:43.127" v="82" actId="403"/>
          <ac:spMkLst>
            <pc:docMk/>
            <pc:sldMk cId="0" sldId="261"/>
            <ac:spMk id="31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17:49.257" v="86" actId="403"/>
          <ac:spMkLst>
            <pc:docMk/>
            <pc:sldMk cId="0" sldId="261"/>
            <ac:spMk id="37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17:56.152" v="90" actId="403"/>
          <ac:spMkLst>
            <pc:docMk/>
            <pc:sldMk cId="0" sldId="261"/>
            <ac:spMk id="43" creationId="{00000000-0000-0000-0000-000000000000}"/>
          </ac:spMkLst>
        </pc:spChg>
        <pc:graphicFrameChg chg="add mod">
          <ac:chgData name="Amey Telkar" userId="70d22fad198cf345" providerId="LiveId" clId="{BF95A47B-7F6F-44A4-92D9-5893FD2D65F9}" dt="2026-06-17T14:21:16.663" v="91"/>
          <ac:graphicFrameMkLst>
            <pc:docMk/>
            <pc:sldMk cId="0" sldId="261"/>
            <ac:graphicFrameMk id="94" creationId="{17CF18CD-EF3C-1428-0A82-D12289469753}"/>
          </ac:graphicFrameMkLst>
        </pc:graphicFrameChg>
      </pc:sldChg>
      <pc:sldChg chg="addSp modSp mod">
        <pc:chgData name="Amey Telkar" userId="70d22fad198cf345" providerId="LiveId" clId="{BF95A47B-7F6F-44A4-92D9-5893FD2D65F9}" dt="2026-06-17T14:26:40.991" v="183" actId="14100"/>
        <pc:sldMkLst>
          <pc:docMk/>
          <pc:sldMk cId="0" sldId="264"/>
        </pc:sldMkLst>
        <pc:picChg chg="add mod">
          <ac:chgData name="Amey Telkar" userId="70d22fad198cf345" providerId="LiveId" clId="{BF95A47B-7F6F-44A4-92D9-5893FD2D65F9}" dt="2026-06-17T14:26:40.991" v="183" actId="14100"/>
          <ac:picMkLst>
            <pc:docMk/>
            <pc:sldMk cId="0" sldId="264"/>
            <ac:picMk id="137" creationId="{22E09A9C-1130-E074-B1DE-5F700FA73FDB}"/>
          </ac:picMkLst>
        </pc:picChg>
      </pc:sldChg>
      <pc:sldChg chg="modSp mod">
        <pc:chgData name="Amey Telkar" userId="70d22fad198cf345" providerId="LiveId" clId="{BF95A47B-7F6F-44A4-92D9-5893FD2D65F9}" dt="2026-06-17T14:35:55.595" v="297" actId="207"/>
        <pc:sldMkLst>
          <pc:docMk/>
          <pc:sldMk cId="0" sldId="265"/>
        </pc:sldMkLst>
        <pc:spChg chg="mod">
          <ac:chgData name="Amey Telkar" userId="70d22fad198cf345" providerId="LiveId" clId="{BF95A47B-7F6F-44A4-92D9-5893FD2D65F9}" dt="2026-06-17T14:26:59.676" v="189" actId="403"/>
          <ac:spMkLst>
            <pc:docMk/>
            <pc:sldMk cId="0" sldId="265"/>
            <ac:spMk id="9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27:29.270" v="201" actId="403"/>
          <ac:spMkLst>
            <pc:docMk/>
            <pc:sldMk cId="0" sldId="265"/>
            <ac:spMk id="14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35:55.595" v="297" actId="207"/>
          <ac:spMkLst>
            <pc:docMk/>
            <pc:sldMk cId="0" sldId="265"/>
            <ac:spMk id="19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27:36.175" v="207" actId="403"/>
          <ac:spMkLst>
            <pc:docMk/>
            <pc:sldMk cId="0" sldId="265"/>
            <ac:spMk id="24" creationId="{00000000-0000-0000-0000-000000000000}"/>
          </ac:spMkLst>
        </pc:spChg>
      </pc:sldChg>
      <pc:sldChg chg="modSp mod">
        <pc:chgData name="Amey Telkar" userId="70d22fad198cf345" providerId="LiveId" clId="{BF95A47B-7F6F-44A4-92D9-5893FD2D65F9}" dt="2026-06-18T04:26:18.087" v="324" actId="20577"/>
        <pc:sldMkLst>
          <pc:docMk/>
          <pc:sldMk cId="0" sldId="271"/>
        </pc:sldMkLst>
        <pc:spChg chg="mod">
          <ac:chgData name="Amey Telkar" userId="70d22fad198cf345" providerId="LiveId" clId="{BF95A47B-7F6F-44A4-92D9-5893FD2D65F9}" dt="2026-06-17T14:28:14.888" v="208" actId="1076"/>
          <ac:spMkLst>
            <pc:docMk/>
            <pc:sldMk cId="0" sldId="271"/>
            <ac:spMk id="15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28:22.554" v="212" actId="403"/>
          <ac:spMkLst>
            <pc:docMk/>
            <pc:sldMk cId="0" sldId="271"/>
            <ac:spMk id="16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28:49.556" v="222" actId="404"/>
          <ac:spMkLst>
            <pc:docMk/>
            <pc:sldMk cId="0" sldId="271"/>
            <ac:spMk id="18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28:44.467" v="221" actId="403"/>
          <ac:spMkLst>
            <pc:docMk/>
            <pc:sldMk cId="0" sldId="271"/>
            <ac:spMk id="20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28:55.517" v="226" actId="403"/>
          <ac:spMkLst>
            <pc:docMk/>
            <pc:sldMk cId="0" sldId="271"/>
            <ac:spMk id="22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29:00.957" v="230" actId="403"/>
          <ac:spMkLst>
            <pc:docMk/>
            <pc:sldMk cId="0" sldId="271"/>
            <ac:spMk id="24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29:06.422" v="234" actId="403"/>
          <ac:spMkLst>
            <pc:docMk/>
            <pc:sldMk cId="0" sldId="271"/>
            <ac:spMk id="26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29:33.617" v="247" actId="403"/>
          <ac:spMkLst>
            <pc:docMk/>
            <pc:sldMk cId="0" sldId="271"/>
            <ac:spMk id="33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30:34.802" v="261" actId="1076"/>
          <ac:spMkLst>
            <pc:docMk/>
            <pc:sldMk cId="0" sldId="271"/>
            <ac:spMk id="34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30:26.346" v="259" actId="1076"/>
          <ac:spMkLst>
            <pc:docMk/>
            <pc:sldMk cId="0" sldId="271"/>
            <ac:spMk id="35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30:40.212" v="262" actId="1076"/>
          <ac:spMkLst>
            <pc:docMk/>
            <pc:sldMk cId="0" sldId="271"/>
            <ac:spMk id="36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30:47.030" v="264" actId="403"/>
          <ac:spMkLst>
            <pc:docMk/>
            <pc:sldMk cId="0" sldId="271"/>
            <ac:spMk id="37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29:58.424" v="252" actId="1076"/>
          <ac:spMkLst>
            <pc:docMk/>
            <pc:sldMk cId="0" sldId="271"/>
            <ac:spMk id="38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30:52.590" v="266" actId="403"/>
          <ac:spMkLst>
            <pc:docMk/>
            <pc:sldMk cId="0" sldId="271"/>
            <ac:spMk id="39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29:47.519" v="249" actId="1076"/>
          <ac:spMkLst>
            <pc:docMk/>
            <pc:sldMk cId="0" sldId="271"/>
            <ac:spMk id="40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30:58.574" v="270" actId="404"/>
          <ac:spMkLst>
            <pc:docMk/>
            <pc:sldMk cId="0" sldId="271"/>
            <ac:spMk id="41" creationId="{00000000-0000-0000-0000-000000000000}"/>
          </ac:spMkLst>
        </pc:spChg>
        <pc:spChg chg="mod">
          <ac:chgData name="Amey Telkar" userId="70d22fad198cf345" providerId="LiveId" clId="{BF95A47B-7F6F-44A4-92D9-5893FD2D65F9}" dt="2026-06-18T04:26:18.087" v="324" actId="20577"/>
          <ac:spMkLst>
            <pc:docMk/>
            <pc:sldMk cId="0" sldId="271"/>
            <ac:spMk id="46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31:41.950" v="283" actId="1076"/>
          <ac:spMkLst>
            <pc:docMk/>
            <pc:sldMk cId="0" sldId="271"/>
            <ac:spMk id="47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31:45.784" v="284" actId="1076"/>
          <ac:spMkLst>
            <pc:docMk/>
            <pc:sldMk cId="0" sldId="271"/>
            <ac:spMk id="48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31:33.165" v="280" actId="1076"/>
          <ac:spMkLst>
            <pc:docMk/>
            <pc:sldMk cId="0" sldId="271"/>
            <ac:spMk id="49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31:35.645" v="281" actId="1076"/>
          <ac:spMkLst>
            <pc:docMk/>
            <pc:sldMk cId="0" sldId="271"/>
            <ac:spMk id="50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32:01.391" v="287" actId="14100"/>
          <ac:spMkLst>
            <pc:docMk/>
            <pc:sldMk cId="0" sldId="271"/>
            <ac:spMk id="51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32:19.040" v="292" actId="14100"/>
          <ac:spMkLst>
            <pc:docMk/>
            <pc:sldMk cId="0" sldId="271"/>
            <ac:spMk id="52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31:08.566" v="273" actId="1076"/>
          <ac:spMkLst>
            <pc:docMk/>
            <pc:sldMk cId="0" sldId="271"/>
            <ac:spMk id="53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32:09.450" v="289" actId="403"/>
          <ac:spMkLst>
            <pc:docMk/>
            <pc:sldMk cId="0" sldId="271"/>
            <ac:spMk id="54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31:03.540" v="271" actId="1076"/>
          <ac:spMkLst>
            <pc:docMk/>
            <pc:sldMk cId="0" sldId="271"/>
            <ac:spMk id="55" creationId="{00000000-0000-0000-0000-000000000000}"/>
          </ac:spMkLst>
        </pc:spChg>
        <pc:spChg chg="mod">
          <ac:chgData name="Amey Telkar" userId="70d22fad198cf345" providerId="LiveId" clId="{BF95A47B-7F6F-44A4-92D9-5893FD2D65F9}" dt="2026-06-17T14:32:14.106" v="291" actId="403"/>
          <ac:spMkLst>
            <pc:docMk/>
            <pc:sldMk cId="0" sldId="271"/>
            <ac:spMk id="56" creationId="{00000000-0000-0000-0000-000000000000}"/>
          </ac:spMkLst>
        </pc:spChg>
      </pc:sldChg>
      <pc:sldChg chg="addSp modSp new mod ord">
        <pc:chgData name="Amey Telkar" userId="70d22fad198cf345" providerId="LiveId" clId="{BF95A47B-7F6F-44A4-92D9-5893FD2D65F9}" dt="2026-06-17T14:24:55.272" v="176"/>
        <pc:sldMkLst>
          <pc:docMk/>
          <pc:sldMk cId="3592187258" sldId="272"/>
        </pc:sldMkLst>
        <pc:spChg chg="add mod">
          <ac:chgData name="Amey Telkar" userId="70d22fad198cf345" providerId="LiveId" clId="{BF95A47B-7F6F-44A4-92D9-5893FD2D65F9}" dt="2026-06-17T14:22:55.101" v="110" actId="14100"/>
          <ac:spMkLst>
            <pc:docMk/>
            <pc:sldMk cId="3592187258" sldId="272"/>
            <ac:spMk id="3" creationId="{E5DBF2F4-49AC-892D-8188-2F35849B0F05}"/>
          </ac:spMkLst>
        </pc:spChg>
        <pc:spChg chg="add mod">
          <ac:chgData name="Amey Telkar" userId="70d22fad198cf345" providerId="LiveId" clId="{BF95A47B-7F6F-44A4-92D9-5893FD2D65F9}" dt="2026-06-17T14:24:16.554" v="171"/>
          <ac:spMkLst>
            <pc:docMk/>
            <pc:sldMk cId="3592187258" sldId="272"/>
            <ac:spMk id="4" creationId="{519DE48C-9815-32B6-1E27-26B0B6733852}"/>
          </ac:spMkLst>
        </pc:spChg>
        <pc:graphicFrameChg chg="add mod">
          <ac:chgData name="Amey Telkar" userId="70d22fad198cf345" providerId="LiveId" clId="{BF95A47B-7F6F-44A4-92D9-5893FD2D65F9}" dt="2026-06-17T14:24:26.013" v="173" actId="14100"/>
          <ac:graphicFrameMkLst>
            <pc:docMk/>
            <pc:sldMk cId="3592187258" sldId="272"/>
            <ac:graphicFrameMk id="2" creationId="{983F58AF-CF05-217C-DA7A-B9400ED64733}"/>
          </ac:graphicFrameMkLst>
        </pc:graphicFrameChg>
      </pc:sldChg>
      <pc:sldChg chg="new del">
        <pc:chgData name="Amey Telkar" userId="70d22fad198cf345" providerId="LiveId" clId="{BF95A47B-7F6F-44A4-92D9-5893FD2D65F9}" dt="2026-06-17T14:32:54.067" v="295" actId="2696"/>
        <pc:sldMkLst>
          <pc:docMk/>
          <pc:sldMk cId="1269700709" sldId="273"/>
        </pc:sldMkLst>
      </pc:sldChg>
      <pc:sldChg chg="add setBg">
        <pc:chgData name="Amey Telkar" userId="70d22fad198cf345" providerId="LiveId" clId="{BF95A47B-7F6F-44A4-92D9-5893FD2D65F9}" dt="2026-06-17T14:32:47.300" v="294"/>
        <pc:sldMkLst>
          <pc:docMk/>
          <pc:sldMk cId="0" sldId="274"/>
        </pc:sldMkLst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1294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5852160" cy="50337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852160" y="109728"/>
            <a:ext cx="3291840" cy="5033772"/>
          </a:xfrm>
          <a:prstGeom prst="rect">
            <a:avLst/>
          </a:prstGeom>
          <a:solidFill>
            <a:srgbClr val="163246"/>
          </a:solidFill>
          <a:ln w="12700">
            <a:solidFill>
              <a:srgbClr val="1632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1463040" cy="38404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ANC-031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0" y="502920"/>
            <a:ext cx="3474720" cy="384048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011680" y="5029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8E0"/>
                </a:solidFill>
              </a:rPr>
              <a:t>MIT Vishwaprayag University, Solapur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07B39"/>
                </a:solidFill>
              </a:rPr>
              <a:t>PulseTech</a:t>
            </a:r>
            <a:endParaRPr lang="en-US" sz="38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Five-Year Longitudinal HANConv GNN</a:t>
            </a:r>
            <a:endParaRPr lang="en-US" sz="38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for Pediatric ADR Link Prediction</a:t>
            </a:r>
            <a:endParaRPr lang="en-US" sz="3800" dirty="0"/>
          </a:p>
          <a:p>
            <a:pPr marL="0" indent="0">
              <a:buNone/>
            </a:pPr>
            <a:r>
              <a:rPr lang="en-US" sz="1700" dirty="0">
                <a:solidFill>
                  <a:srgbClr val="89B4D0"/>
                </a:solidFill>
              </a:rPr>
              <a:t>Using FAERS 2021–2025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237744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NEONATE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63240" y="3429000"/>
            <a:ext cx="2377440" cy="4114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063240" y="3429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INFANT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2377440" cy="411480"/>
          </a:xfrm>
          <a:prstGeom prst="rect">
            <a:avLst/>
          </a:prstGeom>
          <a:solidFill>
            <a:srgbClr val="1E8C5A"/>
          </a:solidFill>
          <a:ln w="12700">
            <a:solidFill>
              <a:srgbClr val="1E8C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3977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CHILD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63240" y="3977640"/>
            <a:ext cx="2377440" cy="411480"/>
          </a:xfrm>
          <a:prstGeom prst="rect">
            <a:avLst/>
          </a:prstGeom>
          <a:solidFill>
            <a:srgbClr val="1E7A8C"/>
          </a:solidFill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063240" y="3977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ADOLESCENT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89320" y="640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7B39"/>
                </a:solidFill>
              </a:rPr>
              <a:t>ASSIGNMENT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89320" y="10058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Research Proposal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Presentation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89320" y="1664208"/>
            <a:ext cx="2743200" cy="0"/>
          </a:xfrm>
          <a:prstGeom prst="line">
            <a:avLst/>
          </a:prstGeom>
          <a:noFill/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989320" y="1828800"/>
            <a:ext cx="164592" cy="16459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263640" y="18013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Atherv Telkar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89320" y="2395728"/>
            <a:ext cx="164592" cy="16459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263640" y="236829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Amey Telkar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89320" y="2962656"/>
            <a:ext cx="164592" cy="16459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263640" y="293522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89320" y="3529584"/>
            <a:ext cx="164592" cy="16459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263640" y="350215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89320" y="41605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A3BE"/>
                </a:solidFill>
              </a:rPr>
              <a:t>Date: 21 Sep 2026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89320" y="44622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A3BE"/>
                </a:solidFill>
              </a:rPr>
              <a:t>MCA – School of Computing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89320" y="47091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A3BE"/>
                </a:solidFill>
              </a:rPr>
              <a:t>Dept. of Computer Applications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Research Gap  —  Literature Review (2020–2026)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732520" y="91440"/>
            <a:ext cx="320040" cy="3200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732520" y="91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E82"/>
                </a:solidFill>
              </a:rPr>
              <a:t>PulseTech (ANC-031) | MIT Vishwaprayag University, Solapur | FAERS 2021–2025 Pediatric ADR Research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594360"/>
            <a:ext cx="8503920" cy="594360"/>
          </a:xfrm>
          <a:prstGeom prst="rect">
            <a:avLst/>
          </a:prstGeom>
          <a:solidFill>
            <a:srgbClr val="FEF3E2"/>
          </a:solidFill>
          <a:ln w="1905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59436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3800"/>
                </a:solidFill>
              </a:rPr>
              <a:t>Research Gap: No existing system simultaneously applies all four disproportionality metrics (PRR, ROR, IC, EBGM) stratified by ICH E11 age bands AND trains separate GNN models per developmental stage per quarter.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2880" y="1170432"/>
            <a:ext cx="1828800" cy="402336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82880" y="117043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Paper (Short Title)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011680" y="1170432"/>
            <a:ext cx="457200" cy="402336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011680" y="11704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Year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468880" y="1170432"/>
            <a:ext cx="1389888" cy="402336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468880" y="1170432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Journal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858768" y="1170432"/>
            <a:ext cx="1755648" cy="402336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858768" y="117043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Method / Key Result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614416" y="1170432"/>
            <a:ext cx="402336" cy="402336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614416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Ped.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016752" y="1170432"/>
            <a:ext cx="493776" cy="402336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016752" y="1170432"/>
            <a:ext cx="493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ICH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E11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510528" y="1170432"/>
            <a:ext cx="402336" cy="402336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510528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GNN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912864" y="1170432"/>
            <a:ext cx="475488" cy="402336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912864" y="1170432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Met.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388352" y="1170432"/>
            <a:ext cx="658368" cy="402336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388352" y="117043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Pipe-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line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82880" y="1572768"/>
            <a:ext cx="1828800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10312" y="1572768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Tian et al. — ML pediatric ADR consensus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011680" y="1572768"/>
            <a:ext cx="457200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039112" y="1572768"/>
            <a:ext cx="411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2025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468880" y="1572768"/>
            <a:ext cx="1389888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496312" y="1572768"/>
            <a:ext cx="13441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Comm. Chemistry (NPG)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858768" y="1572768"/>
            <a:ext cx="1755648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886200" y="1572768"/>
            <a:ext cx="17099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XGBoost + PRR/ROR/BCPNN/EBGM; AUC=0.7177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614416" y="1572768"/>
            <a:ext cx="402336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641848" y="1572768"/>
            <a:ext cx="35661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8C5A"/>
                </a:solidFill>
              </a:rPr>
              <a:t>Yes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016752" y="1572768"/>
            <a:ext cx="493776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044184" y="1572768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No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510528" y="1572768"/>
            <a:ext cx="402336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537960" y="1572768"/>
            <a:ext cx="35661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No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912864" y="1572768"/>
            <a:ext cx="475488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940296" y="1572768"/>
            <a:ext cx="4297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A6200"/>
                </a:solidFill>
              </a:rPr>
              <a:t>Partial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388352" y="1572768"/>
            <a:ext cx="658368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415784" y="1572768"/>
            <a:ext cx="6126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No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82880" y="1892808"/>
            <a:ext cx="1828800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210312" y="1892808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Farnoush et al. — ADR demo + non-clinical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011680" y="1892808"/>
            <a:ext cx="457200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2039112" y="1892808"/>
            <a:ext cx="411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2024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468880" y="1892808"/>
            <a:ext cx="1389888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2496312" y="1892808"/>
            <a:ext cx="13441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Sci. Reports (NPG)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858768" y="1892808"/>
            <a:ext cx="1755648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886200" y="1892808"/>
            <a:ext cx="17099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RF + DL + DrugBank; 1.36M cases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614416" y="1892808"/>
            <a:ext cx="402336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5641848" y="1892808"/>
            <a:ext cx="35661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A6200"/>
                </a:solidFill>
              </a:rPr>
              <a:t>Minimal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016752" y="1892808"/>
            <a:ext cx="493776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044184" y="1892808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No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510528" y="1892808"/>
            <a:ext cx="402336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537960" y="1892808"/>
            <a:ext cx="35661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No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912864" y="1892808"/>
            <a:ext cx="475488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6940296" y="1892808"/>
            <a:ext cx="4297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No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388352" y="1892808"/>
            <a:ext cx="658368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7415784" y="1892808"/>
            <a:ext cx="6126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No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82880" y="2212848"/>
            <a:ext cx="1828800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210312" y="2212848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Gao et al. — PreciseADR Hetero GNN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011680" y="2212848"/>
            <a:ext cx="457200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2039112" y="2212848"/>
            <a:ext cx="411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2025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468880" y="2212848"/>
            <a:ext cx="1389888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2496312" y="2212848"/>
            <a:ext cx="13441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Adv. Science (Wiley)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858768" y="2212848"/>
            <a:ext cx="1755648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886200" y="2212848"/>
            <a:ext cx="17099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Hetero GNN; contrastive learning; +3.2% AUC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614416" y="2212848"/>
            <a:ext cx="402336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5641848" y="2212848"/>
            <a:ext cx="35661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No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6016752" y="2212848"/>
            <a:ext cx="493776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6044184" y="2212848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No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6510528" y="2212848"/>
            <a:ext cx="402336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6537960" y="2212848"/>
            <a:ext cx="35661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8C5A"/>
                </a:solidFill>
              </a:rPr>
              <a:t>Yes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6912864" y="2212848"/>
            <a:ext cx="475488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6940296" y="2212848"/>
            <a:ext cx="4297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No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7388352" y="2212848"/>
            <a:ext cx="658368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7415784" y="2212848"/>
            <a:ext cx="6126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No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182880" y="2532888"/>
            <a:ext cx="1828800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210312" y="2532888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Misu et al. — Pediatric FAERS 2010–2020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2011680" y="2532888"/>
            <a:ext cx="457200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2039112" y="2532888"/>
            <a:ext cx="411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2023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2468880" y="2532888"/>
            <a:ext cx="1389888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2496312" y="2532888"/>
            <a:ext cx="13441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Pharmacotherapy (Wiley)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3858768" y="2532888"/>
            <a:ext cx="1755648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3886200" y="2532888"/>
            <a:ext cx="17099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Cross-sectional; 6 age bins; no ML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5614416" y="2532888"/>
            <a:ext cx="402336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5641848" y="2532888"/>
            <a:ext cx="35661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8C5A"/>
                </a:solidFill>
              </a:rPr>
              <a:t>Yes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6016752" y="2532888"/>
            <a:ext cx="493776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6044184" y="2532888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A6200"/>
                </a:solidFill>
              </a:rPr>
              <a:t>Coarse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6510528" y="2532888"/>
            <a:ext cx="402336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6537960" y="2532888"/>
            <a:ext cx="35661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No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6912864" y="2532888"/>
            <a:ext cx="475488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6940296" y="2532888"/>
            <a:ext cx="4297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No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7388352" y="2532888"/>
            <a:ext cx="658368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7415784" y="2532888"/>
            <a:ext cx="6126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No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182880" y="2852928"/>
            <a:ext cx="1828800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210312" y="2852928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FAERS + DrugBank + SIDER ML detection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2011680" y="2852928"/>
            <a:ext cx="457200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101"/>
          <p:cNvSpPr/>
          <p:nvPr/>
        </p:nvSpPr>
        <p:spPr>
          <a:xfrm>
            <a:off x="2039112" y="2852928"/>
            <a:ext cx="411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2024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2468880" y="2852928"/>
            <a:ext cx="1389888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Text 103"/>
          <p:cNvSpPr/>
          <p:nvPr/>
        </p:nvSpPr>
        <p:spPr>
          <a:xfrm>
            <a:off x="2496312" y="2852928"/>
            <a:ext cx="13441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Datenbank-Sp. (Springer)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3858768" y="2852928"/>
            <a:ext cx="1755648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3886200" y="2852928"/>
            <a:ext cx="17099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AutoML (TPOT); multi-DB integration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5614416" y="2852928"/>
            <a:ext cx="402336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5641848" y="2852928"/>
            <a:ext cx="35661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No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6016752" y="2852928"/>
            <a:ext cx="493776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6044184" y="2852928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No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6510528" y="2852928"/>
            <a:ext cx="402336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6537960" y="2852928"/>
            <a:ext cx="35661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No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6912864" y="2852928"/>
            <a:ext cx="475488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Text 113"/>
          <p:cNvSpPr/>
          <p:nvPr/>
        </p:nvSpPr>
        <p:spPr>
          <a:xfrm>
            <a:off x="6940296" y="2852928"/>
            <a:ext cx="4297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No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7388352" y="2852928"/>
            <a:ext cx="658368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5"/>
          <p:cNvSpPr/>
          <p:nvPr/>
        </p:nvSpPr>
        <p:spPr>
          <a:xfrm>
            <a:off x="7415784" y="2852928"/>
            <a:ext cx="6126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No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182880" y="3172968"/>
            <a:ext cx="1828800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210312" y="3172968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Li et al. — TNF-α inhibitors pediatric PV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2011680" y="3172968"/>
            <a:ext cx="457200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2039112" y="3172968"/>
            <a:ext cx="411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2025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2468880" y="3172968"/>
            <a:ext cx="1389888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2496312" y="3172968"/>
            <a:ext cx="13441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PLOS ONE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3858768" y="3172968"/>
            <a:ext cx="1755648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3886200" y="3172968"/>
            <a:ext cx="17099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ROR; 852 signals; era comparison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5614416" y="3172968"/>
            <a:ext cx="402336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5641848" y="3172968"/>
            <a:ext cx="35661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8C5A"/>
                </a:solidFill>
              </a:rPr>
              <a:t>Yes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6016752" y="3172968"/>
            <a:ext cx="493776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6044184" y="3172968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A6200"/>
                </a:solidFill>
              </a:rPr>
              <a:t>Partial</a:t>
            </a:r>
            <a:endParaRPr lang="en-US" sz="750" dirty="0"/>
          </a:p>
        </p:txBody>
      </p:sp>
      <p:sp>
        <p:nvSpPr>
          <p:cNvPr id="130" name="Shape 128"/>
          <p:cNvSpPr/>
          <p:nvPr/>
        </p:nvSpPr>
        <p:spPr>
          <a:xfrm>
            <a:off x="6510528" y="3172968"/>
            <a:ext cx="402336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1" name="Text 129"/>
          <p:cNvSpPr/>
          <p:nvPr/>
        </p:nvSpPr>
        <p:spPr>
          <a:xfrm>
            <a:off x="6537960" y="3172968"/>
            <a:ext cx="35661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No</a:t>
            </a:r>
            <a:endParaRPr lang="en-US" sz="750" dirty="0"/>
          </a:p>
        </p:txBody>
      </p:sp>
      <p:sp>
        <p:nvSpPr>
          <p:cNvPr id="132" name="Shape 130"/>
          <p:cNvSpPr/>
          <p:nvPr/>
        </p:nvSpPr>
        <p:spPr>
          <a:xfrm>
            <a:off x="6912864" y="3172968"/>
            <a:ext cx="475488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Text 131"/>
          <p:cNvSpPr/>
          <p:nvPr/>
        </p:nvSpPr>
        <p:spPr>
          <a:xfrm>
            <a:off x="6940296" y="3172968"/>
            <a:ext cx="4297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No</a:t>
            </a:r>
            <a:endParaRPr lang="en-US" sz="750" dirty="0"/>
          </a:p>
        </p:txBody>
      </p:sp>
      <p:sp>
        <p:nvSpPr>
          <p:cNvPr id="134" name="Shape 132"/>
          <p:cNvSpPr/>
          <p:nvPr/>
        </p:nvSpPr>
        <p:spPr>
          <a:xfrm>
            <a:off x="7388352" y="3172968"/>
            <a:ext cx="658368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7415784" y="3172968"/>
            <a:ext cx="6126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No</a:t>
            </a: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182880" y="3493008"/>
            <a:ext cx="1828800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" name="Text 135"/>
          <p:cNvSpPr/>
          <p:nvPr/>
        </p:nvSpPr>
        <p:spPr>
          <a:xfrm>
            <a:off x="210312" y="3493008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Azithromycin pediatric disproportionality</a:t>
            </a:r>
            <a:endParaRPr lang="en-US" sz="750" dirty="0"/>
          </a:p>
        </p:txBody>
      </p:sp>
      <p:sp>
        <p:nvSpPr>
          <p:cNvPr id="138" name="Shape 136"/>
          <p:cNvSpPr/>
          <p:nvPr/>
        </p:nvSpPr>
        <p:spPr>
          <a:xfrm>
            <a:off x="2011680" y="3493008"/>
            <a:ext cx="457200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9" name="Text 137"/>
          <p:cNvSpPr/>
          <p:nvPr/>
        </p:nvSpPr>
        <p:spPr>
          <a:xfrm>
            <a:off x="2039112" y="3493008"/>
            <a:ext cx="411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2024</a:t>
            </a:r>
            <a:endParaRPr lang="en-US" sz="750" dirty="0"/>
          </a:p>
        </p:txBody>
      </p:sp>
      <p:sp>
        <p:nvSpPr>
          <p:cNvPr id="140" name="Shape 138"/>
          <p:cNvSpPr/>
          <p:nvPr/>
        </p:nvSpPr>
        <p:spPr>
          <a:xfrm>
            <a:off x="2468880" y="3493008"/>
            <a:ext cx="1389888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1" name="Text 139"/>
          <p:cNvSpPr/>
          <p:nvPr/>
        </p:nvSpPr>
        <p:spPr>
          <a:xfrm>
            <a:off x="2496312" y="3493008"/>
            <a:ext cx="13441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Exp. Opin. Drug Safety</a:t>
            </a:r>
            <a:endParaRPr lang="en-US" sz="750" dirty="0"/>
          </a:p>
        </p:txBody>
      </p:sp>
      <p:sp>
        <p:nvSpPr>
          <p:cNvPr id="142" name="Shape 140"/>
          <p:cNvSpPr/>
          <p:nvPr/>
        </p:nvSpPr>
        <p:spPr>
          <a:xfrm>
            <a:off x="3858768" y="3493008"/>
            <a:ext cx="1755648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3" name="Text 141"/>
          <p:cNvSpPr/>
          <p:nvPr/>
        </p:nvSpPr>
        <p:spPr>
          <a:xfrm>
            <a:off x="3886200" y="3493008"/>
            <a:ext cx="17099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ROR + PRR; MedDRA SOC analysis</a:t>
            </a:r>
            <a:endParaRPr lang="en-US" sz="750" dirty="0"/>
          </a:p>
        </p:txBody>
      </p:sp>
      <p:sp>
        <p:nvSpPr>
          <p:cNvPr id="144" name="Shape 142"/>
          <p:cNvSpPr/>
          <p:nvPr/>
        </p:nvSpPr>
        <p:spPr>
          <a:xfrm>
            <a:off x="5614416" y="3493008"/>
            <a:ext cx="402336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5" name="Text 143"/>
          <p:cNvSpPr/>
          <p:nvPr/>
        </p:nvSpPr>
        <p:spPr>
          <a:xfrm>
            <a:off x="5641848" y="3493008"/>
            <a:ext cx="35661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8C5A"/>
                </a:solidFill>
              </a:rPr>
              <a:t>Yes</a:t>
            </a:r>
            <a:endParaRPr lang="en-US" sz="750" dirty="0"/>
          </a:p>
        </p:txBody>
      </p:sp>
      <p:sp>
        <p:nvSpPr>
          <p:cNvPr id="146" name="Shape 144"/>
          <p:cNvSpPr/>
          <p:nvPr/>
        </p:nvSpPr>
        <p:spPr>
          <a:xfrm>
            <a:off x="6016752" y="3493008"/>
            <a:ext cx="493776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7" name="Text 145"/>
          <p:cNvSpPr/>
          <p:nvPr/>
        </p:nvSpPr>
        <p:spPr>
          <a:xfrm>
            <a:off x="6044184" y="3493008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No</a:t>
            </a:r>
            <a:endParaRPr lang="en-US" sz="750" dirty="0"/>
          </a:p>
        </p:txBody>
      </p:sp>
      <p:sp>
        <p:nvSpPr>
          <p:cNvPr id="148" name="Shape 146"/>
          <p:cNvSpPr/>
          <p:nvPr/>
        </p:nvSpPr>
        <p:spPr>
          <a:xfrm>
            <a:off x="6510528" y="3493008"/>
            <a:ext cx="402336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6537960" y="3493008"/>
            <a:ext cx="35661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No</a:t>
            </a:r>
            <a:endParaRPr lang="en-US" sz="750" dirty="0"/>
          </a:p>
        </p:txBody>
      </p:sp>
      <p:sp>
        <p:nvSpPr>
          <p:cNvPr id="150" name="Shape 148"/>
          <p:cNvSpPr/>
          <p:nvPr/>
        </p:nvSpPr>
        <p:spPr>
          <a:xfrm>
            <a:off x="6912864" y="3493008"/>
            <a:ext cx="475488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6940296" y="3493008"/>
            <a:ext cx="4297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No</a:t>
            </a: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7388352" y="3493008"/>
            <a:ext cx="658368" cy="301752"/>
          </a:xfrm>
          <a:prstGeom prst="rect">
            <a:avLst/>
          </a:prstGeom>
          <a:solidFill>
            <a:srgbClr val="F4F8FB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3" name="Text 151"/>
          <p:cNvSpPr/>
          <p:nvPr/>
        </p:nvSpPr>
        <p:spPr>
          <a:xfrm>
            <a:off x="7415784" y="3493008"/>
            <a:ext cx="6126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No</a:t>
            </a:r>
            <a:endParaRPr lang="en-US" sz="750" dirty="0"/>
          </a:p>
        </p:txBody>
      </p:sp>
      <p:sp>
        <p:nvSpPr>
          <p:cNvPr id="154" name="Shape 152"/>
          <p:cNvSpPr/>
          <p:nvPr/>
        </p:nvSpPr>
        <p:spPr>
          <a:xfrm>
            <a:off x="182880" y="3813048"/>
            <a:ext cx="1828800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5" name="Text 153"/>
          <p:cNvSpPr/>
          <p:nvPr/>
        </p:nvSpPr>
        <p:spPr>
          <a:xfrm>
            <a:off x="210312" y="3813048"/>
            <a:ext cx="1783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Respiratory drugs psychiatric ADEs children</a:t>
            </a:r>
            <a:endParaRPr lang="en-US" sz="750" dirty="0"/>
          </a:p>
        </p:txBody>
      </p:sp>
      <p:sp>
        <p:nvSpPr>
          <p:cNvPr id="156" name="Shape 154"/>
          <p:cNvSpPr/>
          <p:nvPr/>
        </p:nvSpPr>
        <p:spPr>
          <a:xfrm>
            <a:off x="2011680" y="3813048"/>
            <a:ext cx="457200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2039112" y="3813048"/>
            <a:ext cx="411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2026</a:t>
            </a: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2468880" y="3813048"/>
            <a:ext cx="1389888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9" name="Text 157"/>
          <p:cNvSpPr/>
          <p:nvPr/>
        </p:nvSpPr>
        <p:spPr>
          <a:xfrm>
            <a:off x="2496312" y="3813048"/>
            <a:ext cx="13441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Naunyn-Schm. (Springer)</a:t>
            </a:r>
            <a:endParaRPr lang="en-US" sz="750" dirty="0"/>
          </a:p>
        </p:txBody>
      </p:sp>
      <p:sp>
        <p:nvSpPr>
          <p:cNvPr id="160" name="Shape 158"/>
          <p:cNvSpPr/>
          <p:nvPr/>
        </p:nvSpPr>
        <p:spPr>
          <a:xfrm>
            <a:off x="3858768" y="3813048"/>
            <a:ext cx="1755648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1" name="Text 159"/>
          <p:cNvSpPr/>
          <p:nvPr/>
        </p:nvSpPr>
        <p:spPr>
          <a:xfrm>
            <a:off x="3886200" y="3813048"/>
            <a:ext cx="17099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4 algorithms; age+gender subgroup analysis</a:t>
            </a:r>
            <a:endParaRPr lang="en-US" sz="750" dirty="0"/>
          </a:p>
        </p:txBody>
      </p:sp>
      <p:sp>
        <p:nvSpPr>
          <p:cNvPr id="162" name="Shape 160"/>
          <p:cNvSpPr/>
          <p:nvPr/>
        </p:nvSpPr>
        <p:spPr>
          <a:xfrm>
            <a:off x="5614416" y="3813048"/>
            <a:ext cx="402336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3" name="Text 161"/>
          <p:cNvSpPr/>
          <p:nvPr/>
        </p:nvSpPr>
        <p:spPr>
          <a:xfrm>
            <a:off x="5641848" y="3813048"/>
            <a:ext cx="35661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8C5A"/>
                </a:solidFill>
              </a:rPr>
              <a:t>Yes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6016752" y="3813048"/>
            <a:ext cx="493776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5" name="Text 163"/>
          <p:cNvSpPr/>
          <p:nvPr/>
        </p:nvSpPr>
        <p:spPr>
          <a:xfrm>
            <a:off x="6044184" y="3813048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A6200"/>
                </a:solidFill>
              </a:rPr>
              <a:t>Partial</a:t>
            </a:r>
            <a:endParaRPr lang="en-US" sz="750" dirty="0"/>
          </a:p>
        </p:txBody>
      </p:sp>
      <p:sp>
        <p:nvSpPr>
          <p:cNvPr id="166" name="Shape 164"/>
          <p:cNvSpPr/>
          <p:nvPr/>
        </p:nvSpPr>
        <p:spPr>
          <a:xfrm>
            <a:off x="6510528" y="3813048"/>
            <a:ext cx="402336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7" name="Text 165"/>
          <p:cNvSpPr/>
          <p:nvPr/>
        </p:nvSpPr>
        <p:spPr>
          <a:xfrm>
            <a:off x="6537960" y="3813048"/>
            <a:ext cx="35661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No</a:t>
            </a:r>
            <a:endParaRPr lang="en-US" sz="750" dirty="0"/>
          </a:p>
        </p:txBody>
      </p:sp>
      <p:sp>
        <p:nvSpPr>
          <p:cNvPr id="168" name="Shape 166"/>
          <p:cNvSpPr/>
          <p:nvPr/>
        </p:nvSpPr>
        <p:spPr>
          <a:xfrm>
            <a:off x="6912864" y="3813048"/>
            <a:ext cx="475488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9" name="Text 167"/>
          <p:cNvSpPr/>
          <p:nvPr/>
        </p:nvSpPr>
        <p:spPr>
          <a:xfrm>
            <a:off x="6940296" y="3813048"/>
            <a:ext cx="4297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A6200"/>
                </a:solidFill>
              </a:rPr>
              <a:t>Partial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7388352" y="3813048"/>
            <a:ext cx="658368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1" name="Text 169"/>
          <p:cNvSpPr/>
          <p:nvPr/>
        </p:nvSpPr>
        <p:spPr>
          <a:xfrm>
            <a:off x="7415784" y="3813048"/>
            <a:ext cx="6126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No</a:t>
            </a:r>
            <a:endParaRPr lang="en-US" sz="750" dirty="0"/>
          </a:p>
        </p:txBody>
      </p:sp>
      <p:sp>
        <p:nvSpPr>
          <p:cNvPr id="172" name="Shape 170"/>
          <p:cNvSpPr/>
          <p:nvPr/>
        </p:nvSpPr>
        <p:spPr>
          <a:xfrm>
            <a:off x="182880" y="4133088"/>
            <a:ext cx="7863840" cy="402336"/>
          </a:xfrm>
          <a:prstGeom prst="rect">
            <a:avLst/>
          </a:prstGeom>
          <a:solidFill>
            <a:srgbClr val="163E5A"/>
          </a:solidFill>
          <a:ln w="1524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3" name="Text 171"/>
          <p:cNvSpPr/>
          <p:nvPr/>
        </p:nvSpPr>
        <p:spPr>
          <a:xfrm>
            <a:off x="219456" y="4142232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</a:rPr>
              <a:t>PulseTech (This Study) — ANC-031</a:t>
            </a:r>
            <a:endParaRPr lang="en-US" sz="800" dirty="0"/>
          </a:p>
        </p:txBody>
      </p:sp>
      <p:sp>
        <p:nvSpPr>
          <p:cNvPr id="174" name="Text 172"/>
          <p:cNvSpPr/>
          <p:nvPr/>
        </p:nvSpPr>
        <p:spPr>
          <a:xfrm>
            <a:off x="2048256" y="4142232"/>
            <a:ext cx="402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FFFFFF"/>
                </a:solidFill>
              </a:rPr>
              <a:t>2026</a:t>
            </a:r>
            <a:endParaRPr lang="en-US" sz="780" dirty="0"/>
          </a:p>
        </p:txBody>
      </p:sp>
      <p:sp>
        <p:nvSpPr>
          <p:cNvPr id="175" name="Text 173"/>
          <p:cNvSpPr/>
          <p:nvPr/>
        </p:nvSpPr>
        <p:spPr>
          <a:xfrm>
            <a:off x="2505456" y="4142232"/>
            <a:ext cx="1335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FFFFFF"/>
                </a:solidFill>
              </a:rPr>
              <a:t>Present</a:t>
            </a:r>
            <a:endParaRPr lang="en-US" sz="780" dirty="0"/>
          </a:p>
        </p:txBody>
      </p:sp>
      <p:sp>
        <p:nvSpPr>
          <p:cNvPr id="176" name="Text 174"/>
          <p:cNvSpPr/>
          <p:nvPr/>
        </p:nvSpPr>
        <p:spPr>
          <a:xfrm>
            <a:off x="3895344" y="4142232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FFFFFF"/>
                </a:solidFill>
              </a:rPr>
              <a:t>HANConv GNN + 4 metrics per ICH E11 band; 5-yr pipeline</a:t>
            </a:r>
            <a:endParaRPr lang="en-US" sz="780" dirty="0"/>
          </a:p>
        </p:txBody>
      </p:sp>
      <p:sp>
        <p:nvSpPr>
          <p:cNvPr id="177" name="Text 175"/>
          <p:cNvSpPr/>
          <p:nvPr/>
        </p:nvSpPr>
        <p:spPr>
          <a:xfrm>
            <a:off x="5650992" y="4142232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7FFFD4"/>
                </a:solidFill>
              </a:rPr>
              <a:t>YES ✓</a:t>
            </a:r>
            <a:endParaRPr lang="en-US" sz="780" dirty="0"/>
          </a:p>
        </p:txBody>
      </p:sp>
      <p:sp>
        <p:nvSpPr>
          <p:cNvPr id="178" name="Text 176"/>
          <p:cNvSpPr/>
          <p:nvPr/>
        </p:nvSpPr>
        <p:spPr>
          <a:xfrm>
            <a:off x="6053328" y="4142232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7FFFD4"/>
                </a:solidFill>
              </a:rPr>
              <a:t>YES (5)</a:t>
            </a:r>
            <a:endParaRPr lang="en-US" sz="780" dirty="0"/>
          </a:p>
        </p:txBody>
      </p:sp>
      <p:sp>
        <p:nvSpPr>
          <p:cNvPr id="179" name="Text 177"/>
          <p:cNvSpPr/>
          <p:nvPr/>
        </p:nvSpPr>
        <p:spPr>
          <a:xfrm>
            <a:off x="6547104" y="4142232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7FFFD4"/>
                </a:solidFill>
              </a:rPr>
              <a:t>YES ✓</a:t>
            </a:r>
            <a:endParaRPr lang="en-US" sz="780" dirty="0"/>
          </a:p>
        </p:txBody>
      </p:sp>
      <p:sp>
        <p:nvSpPr>
          <p:cNvPr id="180" name="Text 178"/>
          <p:cNvSpPr/>
          <p:nvPr/>
        </p:nvSpPr>
        <p:spPr>
          <a:xfrm>
            <a:off x="6949440" y="4142232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7FFFD4"/>
                </a:solidFill>
              </a:rPr>
              <a:t>YES (4)</a:t>
            </a:r>
            <a:endParaRPr lang="en-US" sz="780" dirty="0"/>
          </a:p>
        </p:txBody>
      </p:sp>
      <p:sp>
        <p:nvSpPr>
          <p:cNvPr id="181" name="Text 179"/>
          <p:cNvSpPr/>
          <p:nvPr/>
        </p:nvSpPr>
        <p:spPr>
          <a:xfrm>
            <a:off x="7424928" y="4142232"/>
            <a:ext cx="6035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7FFFD4"/>
                </a:solidFill>
              </a:rPr>
              <a:t>YES ✓</a:t>
            </a:r>
            <a:endParaRPr lang="en-US" sz="780" dirty="0"/>
          </a:p>
        </p:txBody>
      </p:sp>
      <p:sp>
        <p:nvSpPr>
          <p:cNvPr id="182" name="Shape 180"/>
          <p:cNvSpPr/>
          <p:nvPr/>
        </p:nvSpPr>
        <p:spPr>
          <a:xfrm>
            <a:off x="182880" y="4590288"/>
            <a:ext cx="128016" cy="128016"/>
          </a:xfrm>
          <a:prstGeom prst="rect">
            <a:avLst/>
          </a:prstGeom>
          <a:solidFill>
            <a:srgbClr val="1E8C5A"/>
          </a:solidFill>
          <a:ln w="12700">
            <a:solidFill>
              <a:srgbClr val="1E8C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3" name="Text 181"/>
          <p:cNvSpPr/>
          <p:nvPr/>
        </p:nvSpPr>
        <p:spPr>
          <a:xfrm>
            <a:off x="347472" y="4581144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E82"/>
                </a:solidFill>
              </a:rPr>
              <a:t>Yes / YES ✓</a:t>
            </a:r>
            <a:endParaRPr lang="en-US" sz="800" dirty="0"/>
          </a:p>
        </p:txBody>
      </p:sp>
      <p:sp>
        <p:nvSpPr>
          <p:cNvPr id="184" name="Shape 182"/>
          <p:cNvSpPr/>
          <p:nvPr/>
        </p:nvSpPr>
        <p:spPr>
          <a:xfrm>
            <a:off x="1783080" y="4590288"/>
            <a:ext cx="128016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5" name="Text 183"/>
          <p:cNvSpPr/>
          <p:nvPr/>
        </p:nvSpPr>
        <p:spPr>
          <a:xfrm>
            <a:off x="1947672" y="4581144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E82"/>
                </a:solidFill>
              </a:rPr>
              <a:t>No</a:t>
            </a:r>
            <a:endParaRPr lang="en-US" sz="800" dirty="0"/>
          </a:p>
        </p:txBody>
      </p:sp>
      <p:sp>
        <p:nvSpPr>
          <p:cNvPr id="186" name="Shape 184"/>
          <p:cNvSpPr/>
          <p:nvPr/>
        </p:nvSpPr>
        <p:spPr>
          <a:xfrm>
            <a:off x="3383280" y="4590288"/>
            <a:ext cx="128016" cy="128016"/>
          </a:xfrm>
          <a:prstGeom prst="rect">
            <a:avLst/>
          </a:prstGeom>
          <a:solidFill>
            <a:srgbClr val="8A6200"/>
          </a:solidFill>
          <a:ln w="12700">
            <a:solidFill>
              <a:srgbClr val="8A6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7" name="Text 185"/>
          <p:cNvSpPr/>
          <p:nvPr/>
        </p:nvSpPr>
        <p:spPr>
          <a:xfrm>
            <a:off x="3547872" y="4581144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E82"/>
                </a:solidFill>
              </a:rPr>
              <a:t>Partial / Coarse</a:t>
            </a:r>
            <a:endParaRPr lang="en-US" sz="800" dirty="0"/>
          </a:p>
        </p:txBody>
      </p:sp>
      <p:sp>
        <p:nvSpPr>
          <p:cNvPr id="188" name="Shape 186"/>
          <p:cNvSpPr/>
          <p:nvPr/>
        </p:nvSpPr>
        <p:spPr>
          <a:xfrm>
            <a:off x="4983480" y="4590288"/>
            <a:ext cx="128016" cy="128016"/>
          </a:xfrm>
          <a:prstGeom prst="rect">
            <a:avLst/>
          </a:prstGeom>
          <a:solidFill>
            <a:srgbClr val="7FFFD4"/>
          </a:solidFill>
          <a:ln w="12700">
            <a:solidFill>
              <a:srgbClr val="7FFF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9" name="Text 187"/>
          <p:cNvSpPr/>
          <p:nvPr/>
        </p:nvSpPr>
        <p:spPr>
          <a:xfrm>
            <a:off x="5148072" y="4581144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E82"/>
                </a:solidFill>
              </a:rPr>
              <a:t>PulseTech row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Research Objectives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732520" y="91440"/>
            <a:ext cx="320040" cy="3200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732520" y="91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E82"/>
                </a:solidFill>
              </a:rPr>
              <a:t>PulseTech (ANC-031) | MIT Vishwaprayag University, Solapur | FAERS 2021–2025 Pediatric ADR Research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658368"/>
            <a:ext cx="502920" cy="1188720"/>
          </a:xfrm>
          <a:prstGeom prst="rect">
            <a:avLst/>
          </a:prstGeom>
          <a:solidFill>
            <a:srgbClr val="1E7A8C"/>
          </a:solidFill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" y="658368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O1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658368"/>
            <a:ext cx="8001000" cy="1188720"/>
          </a:xfrm>
          <a:prstGeom prst="rect">
            <a:avLst/>
          </a:prstGeom>
          <a:solidFill>
            <a:srgbClr val="F4F8FB"/>
          </a:solidFill>
          <a:ln w="1016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05840" y="73152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A8C"/>
                </a:solidFill>
              </a:rPr>
              <a:t>Per-Band GNN Training Framework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1042416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Develop the first per-ICH-E11-band, per-quarter HANConv GNN training framework that trains temporally-isolated heterogeneous graph neural networks independently for each of the four pediatric developmental age bands (NEONATE, INFANT, CHILD, ADOLESCENT) across 20 consecutive FAERS quarters (2021 Q1 – 2025 Q4).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029968"/>
            <a:ext cx="502920" cy="11887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4320" y="2029968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O2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68680" y="2029968"/>
            <a:ext cx="8001000" cy="1188720"/>
          </a:xfrm>
          <a:prstGeom prst="rect">
            <a:avLst/>
          </a:prstGeom>
          <a:solidFill>
            <a:srgbClr val="F4F8FB"/>
          </a:solidFill>
          <a:ln w="1016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05840" y="210312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</a:rPr>
              <a:t>Validated 13-Step Data Pipeline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414016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Design and implement a 13-step reproducible FAERS data cleaning pipeline incorporating FDA-compliant cross-quarter deduplication using an is_superseded architecture, RxNorm-based drug normalization with RapidFuzz fallback, ICH E11 age assignment, and a human-in-the-loop Approve/Reject quality gate before database commit.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401568"/>
            <a:ext cx="502920" cy="1188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74320" y="3401568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O3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68680" y="3401568"/>
            <a:ext cx="8001000" cy="1188720"/>
          </a:xfrm>
          <a:prstGeom prst="rect">
            <a:avLst/>
          </a:prstGeom>
          <a:solidFill>
            <a:srgbClr val="F4F8FB"/>
          </a:solidFill>
          <a:ln w="1016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05840" y="347472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B39"/>
                </a:solidFill>
              </a:rPr>
              <a:t>Four-Metric Disproportionality Signal Detection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785616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Simultaneously apply all four validated pharmacovigilance disproportionality metrics (PRR, ROR, IC, EBGM) stratified by ICH E11 developmental age band to generate and validate drug-ADR signals from 3.42 million deduplicated pediatric FAERS records, and benchmark GNN-predicted signals against classical frequency-based methods.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Research Questions  —  ML / Data Science Focus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732520" y="91440"/>
            <a:ext cx="320040" cy="3200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732520" y="91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E82"/>
                </a:solidFill>
              </a:rPr>
              <a:t>PulseTech (ANC-031) | MIT Vishwaprayag University, Solapur | FAERS 2021–2025 Pediatric ADR Research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914400"/>
            <a:ext cx="502920" cy="502920"/>
          </a:xfrm>
          <a:prstGeom prst="ellipse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56032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RQ1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68680" y="621792"/>
            <a:ext cx="8001000" cy="1280160"/>
          </a:xfrm>
          <a:prstGeom prst="rect">
            <a:avLst/>
          </a:prstGeom>
          <a:solidFill>
            <a:srgbClr val="F4F8FB"/>
          </a:solidFill>
          <a:ln w="1016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05840" y="676656"/>
            <a:ext cx="77724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</a:rPr>
              <a:t>Can </a:t>
            </a:r>
            <a:r>
              <a:rPr lang="en-US" sz="1400" dirty="0" err="1">
                <a:solidFill>
                  <a:srgbClr val="1A1A2E"/>
                </a:solidFill>
              </a:rPr>
              <a:t>HANConv</a:t>
            </a:r>
            <a:r>
              <a:rPr lang="en-US" sz="1400" dirty="0">
                <a:solidFill>
                  <a:srgbClr val="1A1A2E"/>
                </a:solidFill>
              </a:rPr>
              <a:t> GNN models accurately predict serious adverse drug reaction outcomes — death, </a:t>
            </a:r>
            <a:r>
              <a:rPr lang="en-US" sz="1400" dirty="0" err="1">
                <a:solidFill>
                  <a:srgbClr val="1A1A2E"/>
                </a:solidFill>
              </a:rPr>
              <a:t>hospitalisation</a:t>
            </a:r>
            <a:r>
              <a:rPr lang="en-US" sz="1400" dirty="0">
                <a:solidFill>
                  <a:srgbClr val="1A1A2E"/>
                </a:solidFill>
              </a:rPr>
              <a:t>, and life-threatening events — in pediatric patients using multi-relational FAERS drug-network features?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1581912"/>
            <a:ext cx="77724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51560" y="158191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7A8C"/>
                </a:solidFill>
              </a:rPr>
              <a:t>Approach: HANConv GNN | Severity scoring DE=7→OT=1 | AUC per outcome class | Wilcoxon signed-rank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2304288"/>
            <a:ext cx="502920" cy="502920"/>
          </a:xfrm>
          <a:prstGeom prst="ellipse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56032" y="2304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RQ2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68680" y="2011680"/>
            <a:ext cx="8001000" cy="1280160"/>
          </a:xfrm>
          <a:prstGeom prst="rect">
            <a:avLst/>
          </a:prstGeom>
          <a:solidFill>
            <a:srgbClr val="F4F8FB"/>
          </a:solidFill>
          <a:ln w="1016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05840" y="2066544"/>
            <a:ext cx="77724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</a:rPr>
              <a:t>Do temporally-isolated, per-quarter GNN models outperform pooled-training baseline models (Logistic Regression, Random Forest) in drug-ADR link prediction on pediatric FAERS data, and can temporal isolation of quarterly models enable longitudinal detection of quarterly changes in pediatric pharmacovigilance signals?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05840" y="2971800"/>
            <a:ext cx="77724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051560" y="297180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7A8C"/>
                </a:solidFill>
              </a:rPr>
              <a:t>Approach: HANConv vs. LR/RF baselines | Same-dataset comparison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3694176"/>
            <a:ext cx="502920" cy="502920"/>
          </a:xfrm>
          <a:prstGeom prst="ellipse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56032" y="3694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RQ3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68680" y="3401568"/>
            <a:ext cx="8001000" cy="1280160"/>
          </a:xfrm>
          <a:prstGeom prst="rect">
            <a:avLst/>
          </a:prstGeom>
          <a:solidFill>
            <a:srgbClr val="F4F8FB"/>
          </a:solidFill>
          <a:ln w="1016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05840" y="3456432"/>
            <a:ext cx="77724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</a:rPr>
              <a:t>Do network-derived relational features from heterogeneous drug-ADR co-occurrence graphs (HANConv embeddings) identify pharmacologically validated drug-ADR associations absent from classical disproportionality analysis (PRR, ROR, IC, EBGM), thereby demonstrating additive predictive value of GNN-based pharmacovigilance?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05840" y="4361688"/>
            <a:ext cx="777240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51560" y="436168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7A8C"/>
                </a:solidFill>
              </a:rPr>
              <a:t>Approach: Four-metric DA comparison | Signal persistence across quarters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983F58AF-CF05-217C-DA7A-B9400ED647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7228941"/>
              </p:ext>
            </p:extLst>
          </p:nvPr>
        </p:nvGraphicFramePr>
        <p:xfrm>
          <a:off x="524656" y="541520"/>
          <a:ext cx="8094688" cy="45626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Document" r:id="rId3" imgW="6120457" imgH="4959898" progId="Word.Document.12">
                  <p:embed/>
                </p:oleObj>
              </mc:Choice>
              <mc:Fallback>
                <p:oleObj name="Document" r:id="rId3" imgW="6120457" imgH="4959898" progId="Word.Document.12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983F58AF-CF05-217C-DA7A-B9400ED647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4656" y="541520"/>
                        <a:ext cx="8094688" cy="45626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hape 0">
            <a:extLst>
              <a:ext uri="{FF2B5EF4-FFF2-40B4-BE49-F238E27FC236}">
                <a16:creationId xmlns:a16="http://schemas.microsoft.com/office/drawing/2014/main" id="{E5DBF2F4-49AC-892D-8188-2F35849B0F05}"/>
              </a:ext>
            </a:extLst>
          </p:cNvPr>
          <p:cNvSpPr/>
          <p:nvPr/>
        </p:nvSpPr>
        <p:spPr>
          <a:xfrm>
            <a:off x="0" y="9367"/>
            <a:ext cx="9144000" cy="417853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9DE48C-9815-32B6-1E27-26B0B6733852}"/>
              </a:ext>
            </a:extLst>
          </p:cNvPr>
          <p:cNvSpPr txBox="1"/>
          <p:nvPr/>
        </p:nvSpPr>
        <p:spPr>
          <a:xfrm>
            <a:off x="524656" y="39346"/>
            <a:ext cx="7562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Data Preprocessing Pipeline  —  13 Validated Steps</a:t>
            </a:r>
            <a:endParaRPr lang="en-US" dirty="0"/>
          </a:p>
          <a:p>
            <a:r>
              <a:rPr lang="en-US" b="1" dirty="0">
                <a:solidFill>
                  <a:srgbClr val="FFFFFF"/>
                </a:solidFill>
              </a:rPr>
              <a:t> 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2187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Machine Learning Approach  —  HANConv Heterogeneous GNN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732520" y="91440"/>
            <a:ext cx="320040" cy="3200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732520" y="91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E82"/>
                </a:solidFill>
              </a:rPr>
              <a:t>PulseTech (ANC-031) | MIT Vishwaprayag University, Solapur | FAERS 2021–2025 Pediatric ADR Research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594360"/>
            <a:ext cx="4114800" cy="4206240"/>
          </a:xfrm>
          <a:prstGeom prst="rect">
            <a:avLst/>
          </a:prstGeom>
          <a:solidFill>
            <a:srgbClr val="F4F8FB"/>
          </a:solidFill>
          <a:ln w="1016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4114800" cy="34747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4320" y="5943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GRAPH CONSTRUCTION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115568"/>
            <a:ext cx="1508760" cy="658368"/>
          </a:xfrm>
          <a:prstGeom prst="ellipse">
            <a:avLst/>
          </a:prstGeom>
          <a:solidFill>
            <a:srgbClr val="1E7A8C"/>
          </a:solidFill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111556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Drug Node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(64-dim embedding)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77440" y="1115568"/>
            <a:ext cx="1508760" cy="65836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377440" y="111556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ADR Node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(64-dim embedding)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417320" y="1920240"/>
            <a:ext cx="1508760" cy="658368"/>
          </a:xfrm>
          <a:prstGeom prst="ellipse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417320" y="192024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Cohort Node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(age band)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417320" y="2743200"/>
            <a:ext cx="1554480" cy="402336"/>
          </a:xfrm>
          <a:prstGeom prst="rect">
            <a:avLst/>
          </a:prstGeom>
          <a:solidFill>
            <a:srgbClr val="D6EAF8"/>
          </a:solidFill>
          <a:ln w="1016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417320" y="2743200"/>
            <a:ext cx="15544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3C5E"/>
                </a:solidFill>
              </a:rPr>
              <a:t>reported_with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3C5E"/>
                </a:solidFill>
              </a:rPr>
              <a:t>(Drug→ADR)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11480" y="3246120"/>
            <a:ext cx="1554480" cy="402336"/>
          </a:xfrm>
          <a:prstGeom prst="rect">
            <a:avLst/>
          </a:prstGeom>
          <a:solidFill>
            <a:srgbClr val="D6EAF8"/>
          </a:solidFill>
          <a:ln w="1016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11480" y="3246120"/>
            <a:ext cx="15544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3C5E"/>
                </a:solidFill>
              </a:rPr>
              <a:t>co_administered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3C5E"/>
                </a:solidFill>
              </a:rPr>
              <a:t>(Drug→Drug)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240280" y="3246120"/>
            <a:ext cx="1554480" cy="402336"/>
          </a:xfrm>
          <a:prstGeom prst="rect">
            <a:avLst/>
          </a:prstGeom>
          <a:solidFill>
            <a:srgbClr val="D6EAF8"/>
          </a:solidFill>
          <a:ln w="1016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240280" y="3246120"/>
            <a:ext cx="15544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3C5E"/>
                </a:solidFill>
              </a:rPr>
              <a:t>received / experienced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3C5E"/>
                </a:solidFill>
              </a:rPr>
              <a:t>(Cohort→Drug / ADR)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965960" y="1417320"/>
            <a:ext cx="411480" cy="0"/>
          </a:xfrm>
          <a:prstGeom prst="line">
            <a:avLst/>
          </a:prstGeom>
          <a:noFill/>
          <a:ln w="38100">
            <a:solidFill>
              <a:srgbClr val="1E7A8C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901952" y="1014984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E7A8C"/>
                </a:solidFill>
              </a:rPr>
              <a:t>reported_with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 flipH="1" flipV="1">
            <a:off x="914400" y="1833372"/>
            <a:ext cx="731520" cy="146304"/>
          </a:xfrm>
          <a:prstGeom prst="line">
            <a:avLst/>
          </a:prstGeom>
          <a:noFill/>
          <a:ln w="31750">
            <a:solidFill>
              <a:srgbClr val="1E8C5A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94360" y="181965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8C5A"/>
                </a:solidFill>
              </a:rPr>
              <a:t>received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 flipV="1">
            <a:off x="2615184" y="1826252"/>
            <a:ext cx="640080" cy="146304"/>
          </a:xfrm>
          <a:prstGeom prst="line">
            <a:avLst/>
          </a:prstGeom>
          <a:noFill/>
          <a:ln w="31750">
            <a:solidFill>
              <a:srgbClr val="E07B3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706624" y="1819656"/>
            <a:ext cx="1088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E07B39"/>
                </a:solidFill>
              </a:rPr>
              <a:t>experienced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 flipV="1">
            <a:off x="822960" y="1005840"/>
            <a:ext cx="274320" cy="109728"/>
          </a:xfrm>
          <a:prstGeom prst="line">
            <a:avLst/>
          </a:prstGeom>
          <a:noFill/>
          <a:ln w="254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097280" y="1005840"/>
            <a:ext cx="411480" cy="109728"/>
          </a:xfrm>
          <a:prstGeom prst="line">
            <a:avLst/>
          </a:prstGeom>
          <a:noFill/>
          <a:ln w="25400">
            <a:solidFill>
              <a:srgbClr val="1A3C5E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-137160" y="950976"/>
            <a:ext cx="1554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A3C5E"/>
                </a:solidFill>
              </a:rPr>
              <a:t>co_admin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320040" y="37033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E82"/>
                </a:solidFill>
              </a:rPr>
              <a:t>n11 ≥ 3 co-reports required  |  1:1 negative sampling  |  Per (age_band × quarter)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20040" y="409651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Pos. edge: n11 ≥ 3 co-reports; neg. edges: random zero-report pairs at 1:1 ratio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0" y="594360"/>
            <a:ext cx="4251960" cy="4206240"/>
          </a:xfrm>
          <a:prstGeom prst="rect">
            <a:avLst/>
          </a:prstGeom>
          <a:solidFill>
            <a:srgbClr val="F4F8FB"/>
          </a:solidFill>
          <a:ln w="1016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572000" y="594360"/>
            <a:ext cx="4251960" cy="347472"/>
          </a:xfrm>
          <a:prstGeom prst="rect">
            <a:avLst/>
          </a:prstGeom>
          <a:solidFill>
            <a:srgbClr val="1E7A8C"/>
          </a:solidFill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572000" y="59436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ARCHITECTURE &amp; TRAINING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1051560"/>
            <a:ext cx="1280160" cy="310896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663440" y="10515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Layer 1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961888" y="1051560"/>
            <a:ext cx="2788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989320" y="105156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HANConv(64→64, heads=4, dropout=0.3) + ELU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1399032"/>
            <a:ext cx="1280160" cy="310896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663440" y="13990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Layer 2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961888" y="1399032"/>
            <a:ext cx="2788920" cy="310896"/>
          </a:xfrm>
          <a:prstGeom prst="rect">
            <a:avLst/>
          </a:prstGeom>
          <a:solidFill>
            <a:srgbClr val="D6EAF8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989320" y="139903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HANConv(64→32, heads=1, dropout=0.1)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63440" y="1746504"/>
            <a:ext cx="1280160" cy="310896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663440" y="174650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Decoder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961888" y="1746504"/>
            <a:ext cx="2788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989320" y="17465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sigmoid(emb_drug · emb_adr)  [dot product]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663440" y="2093976"/>
            <a:ext cx="1280160" cy="310896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663440" y="209397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Loss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961888" y="2093976"/>
            <a:ext cx="2788920" cy="310896"/>
          </a:xfrm>
          <a:prstGeom prst="rect">
            <a:avLst/>
          </a:prstGeom>
          <a:solidFill>
            <a:srgbClr val="D6EAF8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989320" y="209397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Binary Cross-Entropy (BCE)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663440" y="2441448"/>
            <a:ext cx="1280160" cy="310896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663440" y="24414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Optimizer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961888" y="2441448"/>
            <a:ext cx="2788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5989320" y="244144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Adam  (LR=0.001, weight_decay=1e-4</a:t>
            </a:r>
            <a:r>
              <a:rPr lang="en-US" sz="820" dirty="0">
                <a:solidFill>
                  <a:srgbClr val="1A1A2E"/>
                </a:solidFill>
              </a:rPr>
              <a:t>)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4663440" y="2788920"/>
            <a:ext cx="1280160" cy="310896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663440" y="278892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Split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961888" y="2788920"/>
            <a:ext cx="2788920" cy="310896"/>
          </a:xfrm>
          <a:prstGeom prst="rect">
            <a:avLst/>
          </a:prstGeom>
          <a:solidFill>
            <a:srgbClr val="D6EAF8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5989320" y="278892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80% train / 10% val / 10% test (edge masking)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663440" y="3136392"/>
            <a:ext cx="1280160" cy="310896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4663440" y="313639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Epochs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961888" y="3136392"/>
            <a:ext cx="2788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5989320" y="313639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100 per model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663440" y="3483864"/>
            <a:ext cx="1280160" cy="310896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663440" y="348386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Models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961888" y="3483864"/>
            <a:ext cx="2788920" cy="310896"/>
          </a:xfrm>
          <a:prstGeom prst="rect">
            <a:avLst/>
          </a:prstGeom>
          <a:solidFill>
            <a:srgbClr val="D6EAF8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5989320" y="348386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80 total (20 quarters × 4 age bands)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663440" y="3831336"/>
            <a:ext cx="1280160" cy="310896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663440" y="383133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Hardware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5961888" y="3831336"/>
            <a:ext cx="27889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5989320" y="383133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NVIDIA RTX 4050 (6 GB VRAM) | ~6.7 GPU-hrs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663440" y="4178808"/>
            <a:ext cx="1280160" cy="310896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4663440" y="417880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Success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5961888" y="4178808"/>
            <a:ext cx="2788920" cy="310896"/>
          </a:xfrm>
          <a:prstGeom prst="rect">
            <a:avLst/>
          </a:prstGeom>
          <a:solidFill>
            <a:srgbClr val="D6EAF8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5989320" y="417880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100% (0 training failures across 80 runs)</a:t>
            </a:r>
            <a:endParaRPr lang="en-US" sz="1100" dirty="0"/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F09731CD-3653-B2EE-39F0-DE8336AD8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" y="968929"/>
            <a:ext cx="4087368" cy="38636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Statistical Methods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732520" y="91440"/>
            <a:ext cx="320040" cy="3200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732520" y="91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E82"/>
                </a:solidFill>
              </a:rPr>
              <a:t>PulseTech (ANC-031) | MIT Vishwaprayag University, Solapur | FAERS 2021–2025 Pediatric ADR Research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594360"/>
            <a:ext cx="5303520" cy="3657600"/>
          </a:xfrm>
          <a:prstGeom prst="rect">
            <a:avLst/>
          </a:prstGeom>
          <a:solidFill>
            <a:srgbClr val="F4F8FB"/>
          </a:solidFill>
          <a:ln w="1016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5303520" cy="34747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4320" y="59436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Disproportionality Analysis (DA) Metrics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051560"/>
            <a:ext cx="658368" cy="594360"/>
          </a:xfrm>
          <a:prstGeom prst="rect">
            <a:avLst/>
          </a:prstGeom>
          <a:solidFill>
            <a:srgbClr val="1E7A8C"/>
          </a:solidFill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1051560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42416" y="1051560"/>
            <a:ext cx="4462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78992" y="105156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A6E82"/>
                </a:solidFill>
              </a:rPr>
              <a:t>Formula: </a:t>
            </a:r>
            <a:r>
              <a:rPr lang="en-US" sz="850" dirty="0">
                <a:solidFill>
                  <a:srgbClr val="1A1A2E"/>
                </a:solidFill>
              </a:rPr>
              <a:t>(n11/n1x) / (n01/n0x)
</a:t>
            </a:r>
            <a:r>
              <a:rPr lang="en-US" sz="850" b="1" dirty="0">
                <a:solidFill>
                  <a:srgbClr val="5A6E82"/>
                </a:solidFill>
              </a:rPr>
              <a:t>Signal: </a:t>
            </a:r>
            <a:r>
              <a:rPr lang="en-US" sz="850" dirty="0">
                <a:solidFill>
                  <a:srgbClr val="1A1A2E"/>
                </a:solidFill>
              </a:rPr>
              <a:t>≥2 AND χ²≥4  |  </a:t>
            </a:r>
            <a:r>
              <a:rPr lang="en-US" sz="850" b="1" dirty="0">
                <a:solidFill>
                  <a:srgbClr val="5A6E82"/>
                </a:solidFill>
              </a:rPr>
              <a:t>Body: </a:t>
            </a:r>
            <a:r>
              <a:rPr lang="en-US" sz="850" dirty="0">
                <a:solidFill>
                  <a:srgbClr val="1A1A2E"/>
                </a:solidFill>
              </a:rPr>
              <a:t>EMA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1755648"/>
            <a:ext cx="658368" cy="59436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1755648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ROR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42416" y="1755648"/>
            <a:ext cx="4462272" cy="594360"/>
          </a:xfrm>
          <a:prstGeom prst="rect">
            <a:avLst/>
          </a:prstGeom>
          <a:solidFill>
            <a:srgbClr val="D6EAF8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78992" y="1755648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A6E82"/>
                </a:solidFill>
              </a:rPr>
              <a:t>Formula: </a:t>
            </a:r>
            <a:r>
              <a:rPr lang="en-US" sz="850" dirty="0">
                <a:solidFill>
                  <a:srgbClr val="1A1A2E"/>
                </a:solidFill>
              </a:rPr>
              <a:t>(n11×n00)/(n10×n01)
</a:t>
            </a:r>
            <a:r>
              <a:rPr lang="en-US" sz="850" b="1" dirty="0">
                <a:solidFill>
                  <a:srgbClr val="5A6E82"/>
                </a:solidFill>
              </a:rPr>
              <a:t>Signal: </a:t>
            </a:r>
            <a:r>
              <a:rPr lang="en-US" sz="850" dirty="0">
                <a:solidFill>
                  <a:srgbClr val="1A1A2E"/>
                </a:solidFill>
              </a:rPr>
              <a:t>≥2, 95% CI lower &gt;1  |  </a:t>
            </a:r>
            <a:r>
              <a:rPr lang="en-US" sz="850" b="1" dirty="0">
                <a:solidFill>
                  <a:srgbClr val="5A6E82"/>
                </a:solidFill>
              </a:rPr>
              <a:t>Body: </a:t>
            </a:r>
            <a:r>
              <a:rPr lang="en-US" sz="850" dirty="0">
                <a:solidFill>
                  <a:srgbClr val="1A1A2E"/>
                </a:solidFill>
              </a:rPr>
              <a:t>Literature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459736"/>
            <a:ext cx="658368" cy="594360"/>
          </a:xfrm>
          <a:prstGeom prst="rect">
            <a:avLst/>
          </a:prstGeom>
          <a:solidFill>
            <a:srgbClr val="1E8C5A"/>
          </a:solidFill>
          <a:ln w="12700">
            <a:solidFill>
              <a:srgbClr val="1E8C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2459736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IC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42416" y="2459736"/>
            <a:ext cx="4462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78992" y="2459736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A6E82"/>
                </a:solidFill>
              </a:rPr>
              <a:t>Formula: </a:t>
            </a:r>
            <a:r>
              <a:rPr lang="en-US" sz="850" dirty="0">
                <a:solidFill>
                  <a:srgbClr val="1A1A2E"/>
                </a:solidFill>
              </a:rPr>
              <a:t>log₂(n11/E); E=n1x×nx1/nxx
</a:t>
            </a:r>
            <a:r>
              <a:rPr lang="en-US" sz="850" b="1" dirty="0">
                <a:solidFill>
                  <a:srgbClr val="5A6E82"/>
                </a:solidFill>
              </a:rPr>
              <a:t>Signal: </a:t>
            </a:r>
            <a:r>
              <a:rPr lang="en-US" sz="850" dirty="0">
                <a:solidFill>
                  <a:srgbClr val="1A1A2E"/>
                </a:solidFill>
              </a:rPr>
              <a:t>IC025 &gt; 0  |  </a:t>
            </a:r>
            <a:r>
              <a:rPr lang="en-US" sz="850" b="1" dirty="0">
                <a:solidFill>
                  <a:srgbClr val="5A6E82"/>
                </a:solidFill>
              </a:rPr>
              <a:t>Body: </a:t>
            </a:r>
            <a:r>
              <a:rPr lang="en-US" sz="850" dirty="0">
                <a:solidFill>
                  <a:srgbClr val="1A1A2E"/>
                </a:solidFill>
              </a:rPr>
              <a:t>WHO-UMC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163824"/>
            <a:ext cx="658368" cy="5943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65760" y="3163824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EBGM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42416" y="3163824"/>
            <a:ext cx="4462272" cy="594360"/>
          </a:xfrm>
          <a:prstGeom prst="rect">
            <a:avLst/>
          </a:prstGeom>
          <a:solidFill>
            <a:srgbClr val="D6EAF8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078992" y="3163824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A6E82"/>
                </a:solidFill>
              </a:rPr>
              <a:t>Formula: </a:t>
            </a:r>
            <a:r>
              <a:rPr lang="en-US" sz="850" dirty="0">
                <a:solidFill>
                  <a:srgbClr val="1A1A2E"/>
                </a:solidFill>
              </a:rPr>
              <a:t>GPS: α₁=0.2, β₁=0.06, w=0.1
</a:t>
            </a:r>
            <a:r>
              <a:rPr lang="en-US" sz="850" b="1" dirty="0">
                <a:solidFill>
                  <a:srgbClr val="5A6E82"/>
                </a:solidFill>
              </a:rPr>
              <a:t>Signal: </a:t>
            </a:r>
            <a:r>
              <a:rPr lang="en-US" sz="850" dirty="0">
                <a:solidFill>
                  <a:srgbClr val="1A1A2E"/>
                </a:solidFill>
              </a:rPr>
              <a:t>EB05 &gt; 2  |  </a:t>
            </a:r>
            <a:r>
              <a:rPr lang="en-US" sz="850" b="1" dirty="0">
                <a:solidFill>
                  <a:srgbClr val="5A6E82"/>
                </a:solidFill>
              </a:rPr>
              <a:t>Body: </a:t>
            </a:r>
            <a:r>
              <a:rPr lang="en-US" sz="850" dirty="0">
                <a:solidFill>
                  <a:srgbClr val="1A1A2E"/>
                </a:solidFill>
              </a:rPr>
              <a:t>FDA (MGPS)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0040" y="388620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E82"/>
                </a:solidFill>
              </a:rPr>
              <a:t>Min. n11 ≥ 3 cases required before any metric is evaluated. Highest-confidence signals: flagged by ≥2 methods.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760720" y="594360"/>
            <a:ext cx="3108960" cy="3657600"/>
          </a:xfrm>
          <a:prstGeom prst="rect">
            <a:avLst/>
          </a:prstGeom>
          <a:solidFill>
            <a:srgbClr val="F4F8FB"/>
          </a:solidFill>
          <a:ln w="1016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760720" y="594360"/>
            <a:ext cx="3108960" cy="347472"/>
          </a:xfrm>
          <a:prstGeom prst="rect">
            <a:avLst/>
          </a:prstGeom>
          <a:solidFill>
            <a:srgbClr val="1E7A8C"/>
          </a:solidFill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760720" y="5943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 Evaluation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06440" y="1051560"/>
            <a:ext cx="1143000" cy="36576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806440" y="1051560"/>
            <a:ext cx="11430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Primary Metric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967728" y="1051560"/>
            <a:ext cx="1828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995160" y="10515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</a:rPr>
              <a:t>AUC-ROC (edge-level link prediction)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806440" y="1481328"/>
            <a:ext cx="1143000" cy="36576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806440" y="1481328"/>
            <a:ext cx="11430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Split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967728" y="1481328"/>
            <a:ext cx="1828800" cy="365760"/>
          </a:xfrm>
          <a:prstGeom prst="rect">
            <a:avLst/>
          </a:prstGeom>
          <a:solidFill>
            <a:srgbClr val="D6EAF8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995160" y="148132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</a:rPr>
              <a:t>80/10/10 train/val/test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</a:rPr>
              <a:t>(edge masking)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806440" y="1911096"/>
            <a:ext cx="1143000" cy="36576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806440" y="1911096"/>
            <a:ext cx="11430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Wilcoxon Test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967728" y="1911096"/>
            <a:ext cx="1828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995160" y="191109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</a:rPr>
              <a:t>Paired signed-rank, n=20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</a:rPr>
              <a:t>quarters per comparison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806440" y="2340864"/>
            <a:ext cx="1143000" cy="36576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806440" y="2340864"/>
            <a:ext cx="11430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Correction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967728" y="2340864"/>
            <a:ext cx="1828800" cy="365760"/>
          </a:xfrm>
          <a:prstGeom prst="rect">
            <a:avLst/>
          </a:prstGeom>
          <a:solidFill>
            <a:srgbClr val="D6EAF8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995160" y="2340864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</a:rPr>
              <a:t>Bonferroni (3 comparisons)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</a:rPr>
              <a:t>α = 0.0167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806440" y="2770632"/>
            <a:ext cx="1143000" cy="36576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806440" y="2770632"/>
            <a:ext cx="11430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ADOL vs CHILD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967728" y="2770632"/>
            <a:ext cx="1828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995160" y="277063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</a:rPr>
              <a:t>p = 3.81×10⁻⁶ ✓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806440" y="3200400"/>
            <a:ext cx="1143000" cy="36576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80644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CHILD vs INFANT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967728" y="3200400"/>
            <a:ext cx="1828800" cy="365760"/>
          </a:xfrm>
          <a:prstGeom prst="rect">
            <a:avLst/>
          </a:prstGeom>
          <a:solidFill>
            <a:srgbClr val="D6EAF8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995160" y="32004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</a:rPr>
              <a:t>p = 1.91×10⁻⁶ ✓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806440" y="3630168"/>
            <a:ext cx="1143000" cy="36576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5806440" y="3630168"/>
            <a:ext cx="11430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INFANT vs NEO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967728" y="3630168"/>
            <a:ext cx="1828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995160" y="363016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</a:rPr>
              <a:t>p = 0.898 (NS — shared sparsity)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74320" y="4233672"/>
            <a:ext cx="8595360" cy="566928"/>
          </a:xfrm>
          <a:prstGeom prst="rect">
            <a:avLst/>
          </a:prstGeom>
          <a:solidFill>
            <a:srgbClr val="D6EAF8"/>
          </a:solidFill>
          <a:ln w="1016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11480" y="423367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C5E"/>
                </a:solidFill>
              </a:rPr>
              <a:t>Baseline Comparison: Same-dataset LR and Random Forest models trained on the same FAERS graph features. HANConv consistently outperforms both across all ICH E11 bands (5-yr avg ADOLESCENT Δ AUC ≈ +0.06–0.08 vs. LR).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Research Outcomes  —  ML Results &amp; Validation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732520" y="91440"/>
            <a:ext cx="320040" cy="3200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732520" y="91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E82"/>
                </a:solidFill>
              </a:rPr>
              <a:t>PulseTech (ANC-031) | MIT Vishwaprayag University, Solapur | FAERS 2021–2025 Pediatric ADR Research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594360"/>
            <a:ext cx="2011680" cy="1600200"/>
          </a:xfrm>
          <a:prstGeom prst="rect">
            <a:avLst/>
          </a:prstGeom>
          <a:solidFill>
            <a:srgbClr val="F4F8FB"/>
          </a:solidFill>
          <a:ln w="19050">
            <a:solidFill>
              <a:srgbClr val="1A3C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8600" y="594360"/>
            <a:ext cx="2011680" cy="310896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28600" y="5943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ADOLESCENT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(12–17y)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28600" y="93268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3C5E"/>
                </a:solidFill>
              </a:rPr>
              <a:t>0.8425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28600" y="15361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E82"/>
                </a:solidFill>
              </a:rPr>
              <a:t>Avg AUC (5-yr)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28600" y="17373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E82"/>
                </a:solidFill>
              </a:rPr>
              <a:t>Range: 0.7669–0.8647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28600" y="195681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C5E"/>
                </a:solidFill>
              </a:rPr>
              <a:t>Excellent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04872" y="594360"/>
            <a:ext cx="2011680" cy="1600200"/>
          </a:xfrm>
          <a:prstGeom prst="rect">
            <a:avLst/>
          </a:prstGeom>
          <a:solidFill>
            <a:srgbClr val="F4F8FB"/>
          </a:solidFill>
          <a:ln w="19050">
            <a:solidFill>
              <a:srgbClr val="1E7A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404872" y="594360"/>
            <a:ext cx="2011680" cy="310896"/>
          </a:xfrm>
          <a:prstGeom prst="rect">
            <a:avLst/>
          </a:prstGeom>
          <a:solidFill>
            <a:srgbClr val="1E7A8C"/>
          </a:solidFill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04872" y="5943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CHILD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(2–11y)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404872" y="93268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7A8C"/>
                </a:solidFill>
              </a:rPr>
              <a:t>0.7970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2404872" y="15361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E82"/>
                </a:solidFill>
              </a:rPr>
              <a:t>Avg AUC (5-yr)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404872" y="17373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E82"/>
                </a:solidFill>
              </a:rPr>
              <a:t>Range: 0.7646–0.8244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404872" y="195681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7A8C"/>
                </a:solidFill>
              </a:rPr>
              <a:t>Good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81144" y="594360"/>
            <a:ext cx="2011680" cy="1600200"/>
          </a:xfrm>
          <a:prstGeom prst="rect">
            <a:avLst/>
          </a:prstGeom>
          <a:solidFill>
            <a:srgbClr val="F4F8FB"/>
          </a:solidFill>
          <a:ln w="19050">
            <a:solidFill>
              <a:srgbClr val="E07B3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581144" y="594360"/>
            <a:ext cx="2011680" cy="31089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581144" y="5943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INFANT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(28d–23m)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81144" y="93268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7B39"/>
                </a:solidFill>
              </a:rPr>
              <a:t>0.6799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4581144" y="15361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E82"/>
                </a:solidFill>
              </a:rPr>
              <a:t>Avg AUC (5-yr)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581144" y="17373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E82"/>
                </a:solidFill>
              </a:rPr>
              <a:t>Range: 0.5926–0.7136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581144" y="195681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7B39"/>
                </a:solidFill>
              </a:rPr>
              <a:t>Fair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57416" y="594360"/>
            <a:ext cx="2011680" cy="1600200"/>
          </a:xfrm>
          <a:prstGeom prst="rect">
            <a:avLst/>
          </a:prstGeom>
          <a:solidFill>
            <a:srgbClr val="F4F8FB"/>
          </a:solidFill>
          <a:ln w="1905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757416" y="594360"/>
            <a:ext cx="2011680" cy="31089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757416" y="5943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NEONATE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(0–27d)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57416" y="93268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E44AD"/>
                </a:solidFill>
              </a:rPr>
              <a:t>0.6774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757416" y="15361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E82"/>
                </a:solidFill>
              </a:rPr>
              <a:t>Avg AUC (5-yr)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757416" y="17373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E82"/>
                </a:solidFill>
              </a:rPr>
              <a:t>Range: 0.6262–0.7178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757416" y="195681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E44AD"/>
                </a:solidFill>
              </a:rPr>
              <a:t>Fair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2331720"/>
            <a:ext cx="1371600" cy="7772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28600" y="233172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7B39"/>
                </a:solidFill>
              </a:rPr>
              <a:t>80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228600" y="2734056"/>
            <a:ext cx="137160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C8E0"/>
                </a:solidFill>
              </a:rPr>
              <a:t>Models Trained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AAC8E0"/>
                </a:solidFill>
              </a:rPr>
              <a:t>(20 qtrs × 4 bands)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673352" y="2331720"/>
            <a:ext cx="1371600" cy="7772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1673352" y="233172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7B39"/>
                </a:solidFill>
              </a:rPr>
              <a:t>100%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1673352" y="2734056"/>
            <a:ext cx="137160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C8E0"/>
                </a:solidFill>
              </a:rPr>
              <a:t>Training Success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AAC8E0"/>
                </a:solidFill>
              </a:rPr>
              <a:t>Rate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118104" y="2331720"/>
            <a:ext cx="1371600" cy="7772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118104" y="233172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7B39"/>
                </a:solidFill>
              </a:rPr>
              <a:t>36,206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3118104" y="2734056"/>
            <a:ext cx="137160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C8E0"/>
                </a:solidFill>
              </a:rPr>
              <a:t>Unique Drug-ADR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AAC8E0"/>
                </a:solidFill>
              </a:rPr>
              <a:t>Signals Detected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562856" y="2331720"/>
            <a:ext cx="1371600" cy="7772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562856" y="233172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7B39"/>
                </a:solidFill>
              </a:rPr>
              <a:t>33,722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4562856" y="2734056"/>
            <a:ext cx="137160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C8E0"/>
                </a:solidFill>
              </a:rPr>
              <a:t>Confirmed by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AAC8E0"/>
                </a:solidFill>
              </a:rPr>
              <a:t>≥2 DA Methods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007608" y="2331720"/>
            <a:ext cx="1371600" cy="7772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007608" y="233172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7B39"/>
                </a:solidFill>
              </a:rPr>
              <a:t>3.42M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007608" y="2734056"/>
            <a:ext cx="137160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C8E0"/>
                </a:solidFill>
              </a:rPr>
              <a:t>Deduplicated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AAC8E0"/>
                </a:solidFill>
              </a:rPr>
              <a:t>Ped. Records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452360" y="2331720"/>
            <a:ext cx="1371600" cy="7772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7452360" y="233172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7B39"/>
                </a:solidFill>
              </a:rPr>
              <a:t>100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7452360" y="2734056"/>
            <a:ext cx="137160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C8E0"/>
                </a:solidFill>
              </a:rPr>
              <a:t>Epochs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AAC8E0"/>
                </a:solidFill>
              </a:rPr>
              <a:t>Per Model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28600" y="3200400"/>
            <a:ext cx="8686800" cy="310896"/>
          </a:xfrm>
          <a:prstGeom prst="rect">
            <a:avLst/>
          </a:prstGeom>
          <a:solidFill>
            <a:srgbClr val="1E7A8C"/>
          </a:solidFill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228600" y="320040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Top Confirmed Drug-ADR Signals (Q1 2025)  —  Detected by ≥3 of 4 DA Methods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28600" y="3511296"/>
            <a:ext cx="1097280" cy="2743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228600" y="35112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Drug</a:t>
            </a:r>
            <a:endParaRPr lang="en-US" sz="780" dirty="0"/>
          </a:p>
        </p:txBody>
      </p:sp>
      <p:sp>
        <p:nvSpPr>
          <p:cNvPr id="58" name="Shape 56"/>
          <p:cNvSpPr/>
          <p:nvPr/>
        </p:nvSpPr>
        <p:spPr>
          <a:xfrm>
            <a:off x="1325880" y="3511296"/>
            <a:ext cx="2286000" cy="2743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1325880" y="3511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ADR (MedDRA PT)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3611880" y="3511296"/>
            <a:ext cx="1143000" cy="2743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3611880" y="351129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Age Band</a:t>
            </a:r>
            <a:endParaRPr lang="en-US" sz="780" dirty="0"/>
          </a:p>
        </p:txBody>
      </p:sp>
      <p:sp>
        <p:nvSpPr>
          <p:cNvPr id="62" name="Shape 60"/>
          <p:cNvSpPr/>
          <p:nvPr/>
        </p:nvSpPr>
        <p:spPr>
          <a:xfrm>
            <a:off x="4754880" y="3511296"/>
            <a:ext cx="777240" cy="2743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4754880" y="35112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N / Qtrs</a:t>
            </a:r>
            <a:endParaRPr lang="en-US" sz="780" dirty="0"/>
          </a:p>
        </p:txBody>
      </p:sp>
      <p:sp>
        <p:nvSpPr>
          <p:cNvPr id="64" name="Shape 62"/>
          <p:cNvSpPr/>
          <p:nvPr/>
        </p:nvSpPr>
        <p:spPr>
          <a:xfrm>
            <a:off x="5532120" y="3511296"/>
            <a:ext cx="777240" cy="2743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5532120" y="35112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PRR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6309360" y="3511296"/>
            <a:ext cx="868680" cy="2743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6309360" y="351129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ROR</a:t>
            </a:r>
            <a:endParaRPr lang="en-US" sz="780" dirty="0"/>
          </a:p>
        </p:txBody>
      </p:sp>
      <p:sp>
        <p:nvSpPr>
          <p:cNvPr id="68" name="Shape 66"/>
          <p:cNvSpPr/>
          <p:nvPr/>
        </p:nvSpPr>
        <p:spPr>
          <a:xfrm>
            <a:off x="7178040" y="3511296"/>
            <a:ext cx="731520" cy="2743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7178040" y="351129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IC025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7909560" y="3511296"/>
            <a:ext cx="1005840" cy="2743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7909560" y="35112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Signal</a:t>
            </a:r>
            <a:endParaRPr lang="en-US" sz="780" dirty="0"/>
          </a:p>
        </p:txBody>
      </p:sp>
      <p:sp>
        <p:nvSpPr>
          <p:cNvPr id="72" name="Shape 70"/>
          <p:cNvSpPr/>
          <p:nvPr/>
        </p:nvSpPr>
        <p:spPr>
          <a:xfrm>
            <a:off x="228600" y="3785616"/>
            <a:ext cx="1097280" cy="237744"/>
          </a:xfrm>
          <a:prstGeom prst="rect">
            <a:avLst/>
          </a:prstGeom>
          <a:solidFill>
            <a:srgbClr val="F4F8FB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228600" y="3785616"/>
            <a:ext cx="109728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Dupixent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1325880" y="3785616"/>
            <a:ext cx="2286000" cy="237744"/>
          </a:xfrm>
          <a:prstGeom prst="rect">
            <a:avLst/>
          </a:prstGeom>
          <a:solidFill>
            <a:srgbClr val="F4F8FB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1325880" y="3785616"/>
            <a:ext cx="228600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Dermatitis atopic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3611880" y="3785616"/>
            <a:ext cx="1143000" cy="237744"/>
          </a:xfrm>
          <a:prstGeom prst="rect">
            <a:avLst/>
          </a:prstGeom>
          <a:solidFill>
            <a:srgbClr val="F4F8FB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3611880" y="3785616"/>
            <a:ext cx="114300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ADOLESCENT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4754880" y="3785616"/>
            <a:ext cx="777240" cy="237744"/>
          </a:xfrm>
          <a:prstGeom prst="rect">
            <a:avLst/>
          </a:prstGeom>
          <a:solidFill>
            <a:srgbClr val="F4F8FB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4754880" y="3785616"/>
            <a:ext cx="77724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934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5532120" y="3785616"/>
            <a:ext cx="777240" cy="237744"/>
          </a:xfrm>
          <a:prstGeom prst="rect">
            <a:avLst/>
          </a:prstGeom>
          <a:solidFill>
            <a:srgbClr val="F4F8FB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5532120" y="3785616"/>
            <a:ext cx="77724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83.69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6309360" y="3785616"/>
            <a:ext cx="868680" cy="237744"/>
          </a:xfrm>
          <a:prstGeom prst="rect">
            <a:avLst/>
          </a:prstGeom>
          <a:solidFill>
            <a:srgbClr val="F4F8FB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6309360" y="3785616"/>
            <a:ext cx="86868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99.76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7178040" y="3785616"/>
            <a:ext cx="731520" cy="237744"/>
          </a:xfrm>
          <a:prstGeom prst="rect">
            <a:avLst/>
          </a:prstGeom>
          <a:solidFill>
            <a:srgbClr val="F4F8FB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7178040" y="3785616"/>
            <a:ext cx="73152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1.90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7909560" y="3785616"/>
            <a:ext cx="1005840" cy="237744"/>
          </a:xfrm>
          <a:prstGeom prst="rect">
            <a:avLst/>
          </a:prstGeom>
          <a:solidFill>
            <a:srgbClr val="F4F8FB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7909560" y="3785616"/>
            <a:ext cx="100584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Yes (3/4)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28600" y="4041648"/>
            <a:ext cx="109728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228600" y="4041648"/>
            <a:ext cx="109728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Genotropin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1325880" y="4041648"/>
            <a:ext cx="22860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1325880" y="4041648"/>
            <a:ext cx="228600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Drug dose omission by device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3611880" y="4041648"/>
            <a:ext cx="11430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3611880" y="4041648"/>
            <a:ext cx="114300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ADOLESCENT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754880" y="4041648"/>
            <a:ext cx="7772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754880" y="4041648"/>
            <a:ext cx="77724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929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5532120" y="4041648"/>
            <a:ext cx="7772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5532120" y="4041648"/>
            <a:ext cx="77724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211.15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6309360" y="4041648"/>
            <a:ext cx="86868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6309360" y="4041648"/>
            <a:ext cx="86868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495.33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7178040" y="4041648"/>
            <a:ext cx="7315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7178040" y="4041648"/>
            <a:ext cx="73152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3.68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7909560" y="4041648"/>
            <a:ext cx="10058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101"/>
          <p:cNvSpPr/>
          <p:nvPr/>
        </p:nvSpPr>
        <p:spPr>
          <a:xfrm>
            <a:off x="7909560" y="4041648"/>
            <a:ext cx="100584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Yes (3/4)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228600" y="4297680"/>
            <a:ext cx="1097280" cy="237744"/>
          </a:xfrm>
          <a:prstGeom prst="rect">
            <a:avLst/>
          </a:prstGeom>
          <a:solidFill>
            <a:srgbClr val="F4F8FB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Text 103"/>
          <p:cNvSpPr/>
          <p:nvPr/>
        </p:nvSpPr>
        <p:spPr>
          <a:xfrm>
            <a:off x="228600" y="4297680"/>
            <a:ext cx="109728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Risperdal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1325880" y="4297680"/>
            <a:ext cx="2286000" cy="237744"/>
          </a:xfrm>
          <a:prstGeom prst="rect">
            <a:avLst/>
          </a:prstGeom>
          <a:solidFill>
            <a:srgbClr val="F4F8FB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1325880" y="4297680"/>
            <a:ext cx="228600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Gynaecomastia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3611880" y="4297680"/>
            <a:ext cx="1143000" cy="237744"/>
          </a:xfrm>
          <a:prstGeom prst="rect">
            <a:avLst/>
          </a:prstGeom>
          <a:solidFill>
            <a:srgbClr val="F4F8FB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3611880" y="4297680"/>
            <a:ext cx="114300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ADOLESCENT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4754880" y="4297680"/>
            <a:ext cx="777240" cy="237744"/>
          </a:xfrm>
          <a:prstGeom prst="rect">
            <a:avLst/>
          </a:prstGeom>
          <a:solidFill>
            <a:srgbClr val="F4F8FB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4754880" y="4297680"/>
            <a:ext cx="77724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6 qtrs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5532120" y="4297680"/>
            <a:ext cx="777240" cy="237744"/>
          </a:xfrm>
          <a:prstGeom prst="rect">
            <a:avLst/>
          </a:prstGeom>
          <a:solidFill>
            <a:srgbClr val="F4F8FB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5532120" y="4297680"/>
            <a:ext cx="77724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2,240.67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6309360" y="4297680"/>
            <a:ext cx="868680" cy="237744"/>
          </a:xfrm>
          <a:prstGeom prst="rect">
            <a:avLst/>
          </a:prstGeom>
          <a:solidFill>
            <a:srgbClr val="F4F8FB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Text 113"/>
          <p:cNvSpPr/>
          <p:nvPr/>
        </p:nvSpPr>
        <p:spPr>
          <a:xfrm>
            <a:off x="6309360" y="4297680"/>
            <a:ext cx="86868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4,721.25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7178040" y="4297680"/>
            <a:ext cx="731520" cy="237744"/>
          </a:xfrm>
          <a:prstGeom prst="rect">
            <a:avLst/>
          </a:prstGeom>
          <a:solidFill>
            <a:srgbClr val="F4F8FB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5"/>
          <p:cNvSpPr/>
          <p:nvPr/>
        </p:nvSpPr>
        <p:spPr>
          <a:xfrm>
            <a:off x="7178040" y="4297680"/>
            <a:ext cx="73152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—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7909560" y="4297680"/>
            <a:ext cx="1005840" cy="237744"/>
          </a:xfrm>
          <a:prstGeom prst="rect">
            <a:avLst/>
          </a:prstGeom>
          <a:solidFill>
            <a:srgbClr val="F4F8FB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7909560" y="4297680"/>
            <a:ext cx="100584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Persistent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228600" y="4553712"/>
            <a:ext cx="109728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228600" y="4553712"/>
            <a:ext cx="109728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Truvada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1325880" y="4553712"/>
            <a:ext cx="22860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1325880" y="4553712"/>
            <a:ext cx="228600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Bone Loss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3611880" y="4553712"/>
            <a:ext cx="11430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3611880" y="4553712"/>
            <a:ext cx="114300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ADOLESCENT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4754880" y="4553712"/>
            <a:ext cx="7772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4754880" y="4553712"/>
            <a:ext cx="77724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6 qtrs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5532120" y="4553712"/>
            <a:ext cx="7772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5532120" y="4553712"/>
            <a:ext cx="77724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1,107.61</a:t>
            </a:r>
            <a:endParaRPr lang="en-US" sz="750" dirty="0"/>
          </a:p>
        </p:txBody>
      </p:sp>
      <p:sp>
        <p:nvSpPr>
          <p:cNvPr id="130" name="Shape 128"/>
          <p:cNvSpPr/>
          <p:nvPr/>
        </p:nvSpPr>
        <p:spPr>
          <a:xfrm>
            <a:off x="6309360" y="4553712"/>
            <a:ext cx="86868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1" name="Text 129"/>
          <p:cNvSpPr/>
          <p:nvPr/>
        </p:nvSpPr>
        <p:spPr>
          <a:xfrm>
            <a:off x="6309360" y="4553712"/>
            <a:ext cx="86868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1,807.10</a:t>
            </a:r>
            <a:endParaRPr lang="en-US" sz="750" dirty="0"/>
          </a:p>
        </p:txBody>
      </p:sp>
      <p:sp>
        <p:nvSpPr>
          <p:cNvPr id="132" name="Shape 130"/>
          <p:cNvSpPr/>
          <p:nvPr/>
        </p:nvSpPr>
        <p:spPr>
          <a:xfrm>
            <a:off x="7178040" y="4553712"/>
            <a:ext cx="7315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Text 131"/>
          <p:cNvSpPr/>
          <p:nvPr/>
        </p:nvSpPr>
        <p:spPr>
          <a:xfrm>
            <a:off x="7178040" y="4553712"/>
            <a:ext cx="73152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—</a:t>
            </a:r>
            <a:endParaRPr lang="en-US" sz="750" dirty="0"/>
          </a:p>
        </p:txBody>
      </p:sp>
      <p:sp>
        <p:nvSpPr>
          <p:cNvPr id="134" name="Shape 132"/>
          <p:cNvSpPr/>
          <p:nvPr/>
        </p:nvSpPr>
        <p:spPr>
          <a:xfrm>
            <a:off x="7909560" y="4553712"/>
            <a:ext cx="10058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7909560" y="4553712"/>
            <a:ext cx="1005840" cy="2377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</a:rPr>
              <a:t>Persistent</a:t>
            </a:r>
            <a:endParaRPr lang="en-US" sz="750" dirty="0"/>
          </a:p>
        </p:txBody>
      </p:sp>
      <p:pic>
        <p:nvPicPr>
          <p:cNvPr id="137" name="Picture 136">
            <a:extLst>
              <a:ext uri="{FF2B5EF4-FFF2-40B4-BE49-F238E27FC236}">
                <a16:creationId xmlns:a16="http://schemas.microsoft.com/office/drawing/2014/main" id="{22E09A9C-1130-E074-B1DE-5F700FA73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" y="3486849"/>
            <a:ext cx="8755380" cy="14479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Conclusion &amp; Contributions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0"/>
          </a:xfrm>
          <a:prstGeom prst="line">
            <a:avLst/>
          </a:prstGeom>
          <a:noFill/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1463040"/>
          </a:xfrm>
          <a:prstGeom prst="rect">
            <a:avLst/>
          </a:prstGeom>
          <a:solidFill>
            <a:srgbClr val="162D42"/>
          </a:solidFill>
          <a:ln w="15240">
            <a:solidFill>
              <a:srgbClr val="1E7A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57200" cy="1463040"/>
          </a:xfrm>
          <a:prstGeom prst="rect">
            <a:avLst/>
          </a:prstGeom>
          <a:solidFill>
            <a:srgbClr val="1E7A8C"/>
          </a:solidFill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457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05156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7A8C"/>
                </a:solidFill>
              </a:rPr>
              <a:t>First Per-ICH-E11-Band GNN System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1399032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D4E8"/>
                </a:solidFill>
              </a:rPr>
              <a:t>80 HANConv models trained across 20 FAERS quarters (2021–2025) with 100% success. ADOLESCENT avg AUC 0.8425, CHILD 0.7970 — statistically confirmed performance gradient.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206240" cy="1463040"/>
          </a:xfrm>
          <a:prstGeom prst="rect">
            <a:avLst/>
          </a:prstGeom>
          <a:solidFill>
            <a:srgbClr val="162D42"/>
          </a:solidFill>
          <a:ln w="15240">
            <a:solidFill>
              <a:srgbClr val="1E8C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57200" cy="1463040"/>
          </a:xfrm>
          <a:prstGeom prst="rect">
            <a:avLst/>
          </a:prstGeom>
          <a:solidFill>
            <a:srgbClr val="1E8C5A"/>
          </a:solidFill>
          <a:ln w="12700">
            <a:solidFill>
              <a:srgbClr val="1E8C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09160" y="960120"/>
            <a:ext cx="457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57800" y="105156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8C5A"/>
                </a:solidFill>
              </a:rPr>
              <a:t>13-Step Validated Cleaning Pipeline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57800" y="1399032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D4E8"/>
                </a:solidFill>
              </a:rPr>
              <a:t>Unique Approve/Reject quality gate absent from all reviewed literature; 3,420,201 deduplicated pediatric records; RxNorm normalization with RapidFuzz fallback (~94% API hit rate).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2560320"/>
            <a:ext cx="4206240" cy="1463040"/>
          </a:xfrm>
          <a:prstGeom prst="rect">
            <a:avLst/>
          </a:prstGeom>
          <a:solidFill>
            <a:srgbClr val="162D42"/>
          </a:solidFill>
          <a:ln w="15240">
            <a:solidFill>
              <a:srgbClr val="E07B3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74320" y="2560320"/>
            <a:ext cx="457200" cy="14630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74320" y="2560320"/>
            <a:ext cx="457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265176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7B39"/>
                </a:solidFill>
              </a:rPr>
              <a:t>Four-Metric Simultaneous Disproportionality Analysis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2999232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2"/>
                </a:solidFill>
              </a:rPr>
              <a:t>Simultaneous PRR, ROR, IC025 &amp; EBGM per ICH E11 band on 3.42M records → 36,206 drug-ADR signals, 33,722 confirmed by ≥2 methods.</a:t>
            </a:r>
          </a:p>
        </p:txBody>
      </p:sp>
      <p:sp>
        <p:nvSpPr>
          <p:cNvPr id="20" name="Shape 18"/>
          <p:cNvSpPr/>
          <p:nvPr/>
        </p:nvSpPr>
        <p:spPr>
          <a:xfrm>
            <a:off x="4709160" y="2560320"/>
            <a:ext cx="4206240" cy="1463040"/>
          </a:xfrm>
          <a:prstGeom prst="rect">
            <a:avLst/>
          </a:prstGeom>
          <a:solidFill>
            <a:srgbClr val="162D42"/>
          </a:solidFill>
          <a:ln w="1524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709160" y="2560320"/>
            <a:ext cx="457200" cy="14630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09160" y="2560320"/>
            <a:ext cx="457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④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57800" y="265176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E44AD"/>
                </a:solidFill>
              </a:rPr>
              <a:t>GNN Identifies Signals Beyond Classical DA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57800" y="2999232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D4E8"/>
                </a:solidFill>
              </a:rPr>
              <a:t>HANConv link prediction surfaces pharmacologically validated drug-ADR associations absent from training data — a capability unavailable to frequency-based PRR/ROR/IC/EBGM methods alone.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" y="4699417"/>
            <a:ext cx="8595360" cy="3297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A3BE"/>
                </a:solidFill>
              </a:rPr>
              <a:t>MIT Vishwaprayag University  •  MCA (School of Computing)  •  Atherv Telkar | Amey Telkar | Abhishek Kamble | Rushikesh Chintapalli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74320" y="494233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PulseTech (ANC-031)  |  FAERS 2021–2025  |  HANConv GNN  |  ICH E11 Pediatric Pharmacovigilance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286000" y="1645920"/>
            <a:ext cx="4572000" cy="5486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286000" y="16459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APPENDIX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23317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Defence &amp; Supporting Evidence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45920" y="2944368"/>
            <a:ext cx="5852160" cy="0"/>
          </a:xfrm>
          <a:prstGeom prst="line">
            <a:avLst/>
          </a:prstGeom>
          <a:noFill/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691640" y="3127248"/>
            <a:ext cx="201168" cy="201168"/>
          </a:xfrm>
          <a:prstGeom prst="ellipse">
            <a:avLst/>
          </a:prstGeom>
          <a:solidFill>
            <a:srgbClr val="1E7A8C"/>
          </a:solidFill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956816" y="3108960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8E0"/>
                </a:solidFill>
              </a:rPr>
              <a:t>A1 — Longitudinal AUC-ROC: All 80 models across 20 quarters (2021–2025)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91640" y="3474720"/>
            <a:ext cx="201168" cy="201168"/>
          </a:xfrm>
          <a:prstGeom prst="ellipse">
            <a:avLst/>
          </a:prstGeom>
          <a:solidFill>
            <a:srgbClr val="1E7A8C"/>
          </a:solidFill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956816" y="3456432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8E0"/>
                </a:solidFill>
              </a:rPr>
              <a:t>A2 — Age vs. Accuracy Gap: Metabolism, pharmacokinetics &amp; data sparsity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91640" y="3822192"/>
            <a:ext cx="201168" cy="201168"/>
          </a:xfrm>
          <a:prstGeom prst="ellipse">
            <a:avLst/>
          </a:prstGeom>
          <a:solidFill>
            <a:srgbClr val="1E7A8C"/>
          </a:solidFill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956816" y="3803904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8E0"/>
                </a:solidFill>
              </a:rPr>
              <a:t>A3 — Why 4 Signal Metrics: Role, formula, evidence &amp; FDA benefit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91640" y="4169664"/>
            <a:ext cx="201168" cy="201168"/>
          </a:xfrm>
          <a:prstGeom prst="ellipse">
            <a:avLst/>
          </a:prstGeom>
          <a:solidFill>
            <a:srgbClr val="1E7A8C"/>
          </a:solidFill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956816" y="4151376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8E0"/>
                </a:solidFill>
              </a:rPr>
              <a:t>A4 — Defence: Longitudinal fragmentation &amp; is_superseded proof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91640" y="4517136"/>
            <a:ext cx="201168" cy="201168"/>
          </a:xfrm>
          <a:prstGeom prst="ellipse">
            <a:avLst/>
          </a:prstGeom>
          <a:solidFill>
            <a:srgbClr val="1E7A8C"/>
          </a:solidFill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956816" y="4498848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8E0"/>
                </a:solidFill>
              </a:rPr>
              <a:t>A5 — Defence: Why 68% neonate AUC is our biggest proof of innovation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484632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E82"/>
                </a:solidFill>
              </a:rPr>
              <a:t>Slides available for Q&amp;A discussion — not part of the 8-minute main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A1 — Longitudinal AUC-ROC  —  All 80 Models: 20 Quarters × 4 ICH E11 Age Bands (2021–2025)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503920" y="91440"/>
            <a:ext cx="457200" cy="320040"/>
          </a:xfrm>
          <a:prstGeom prst="rect">
            <a:avLst/>
          </a:prstGeom>
          <a:solidFill>
            <a:srgbClr val="1E7A8C"/>
          </a:solidFill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503920" y="91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548640"/>
            <a:ext cx="201168" cy="201168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66928" y="5486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E82"/>
                </a:solidFill>
              </a:rPr>
              <a:t>Excellent ≥0.84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23160" y="548640"/>
            <a:ext cx="201168" cy="201168"/>
          </a:xfrm>
          <a:prstGeom prst="rect">
            <a:avLst/>
          </a:prstGeom>
          <a:solidFill>
            <a:srgbClr val="1E7A8C"/>
          </a:solidFill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670048" y="5486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E82"/>
                </a:solidFill>
              </a:rPr>
              <a:t>Good ≥0.80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26280" y="548640"/>
            <a:ext cx="201168" cy="2011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73168" y="5486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E82"/>
                </a:solidFill>
              </a:rPr>
              <a:t>Fair ≥0.68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29400" y="548640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876288" y="5486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E82"/>
                </a:solidFill>
              </a:rPr>
              <a:t>Limited &lt;0.68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804672"/>
            <a:ext cx="530352" cy="38404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56032" y="80467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Year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04672" y="804672"/>
            <a:ext cx="658368" cy="38404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04672" y="80467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Qtr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481328" y="804672"/>
            <a:ext cx="1408176" cy="38404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481328" y="80467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ADOLESCENT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(12–17y)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907792" y="804672"/>
            <a:ext cx="1408176" cy="38404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907792" y="80467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CHILD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(2–11y)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334256" y="804672"/>
            <a:ext cx="1408176" cy="38404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334256" y="80467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INFANT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(28d–23m)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760720" y="804672"/>
            <a:ext cx="1408176" cy="38404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760720" y="80467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NEONATE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(0–27d)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87184" y="804672"/>
            <a:ext cx="1755648" cy="38404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187184" y="80467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Pattern / Signal Count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6032" y="1188720"/>
            <a:ext cx="530352" cy="74980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56032" y="1188720"/>
            <a:ext cx="5303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2021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4672" y="1188720"/>
            <a:ext cx="658368" cy="164592"/>
          </a:xfrm>
          <a:prstGeom prst="rect">
            <a:avLst/>
          </a:prstGeom>
          <a:solidFill>
            <a:srgbClr val="F8FAFC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04672" y="1188720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C5E"/>
                </a:solidFill>
              </a:rPr>
              <a:t>Q1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481328" y="1188720"/>
            <a:ext cx="1408176" cy="164592"/>
          </a:xfrm>
          <a:prstGeom prst="rect">
            <a:avLst/>
          </a:prstGeom>
          <a:solidFill>
            <a:srgbClr val="D6E8F7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481328" y="118872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4F8B"/>
                </a:solidFill>
              </a:rPr>
              <a:t>0.8400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907792" y="118872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907792" y="118872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0.7829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334256" y="118872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334256" y="118872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0.6980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760720" y="118872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760720" y="118872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0.6888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187184" y="1188720"/>
            <a:ext cx="1755648" cy="164592"/>
          </a:xfrm>
          <a:prstGeom prst="rect">
            <a:avLst/>
          </a:prstGeom>
          <a:solidFill>
            <a:srgbClr val="F8FAFC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223760" y="1188720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E82"/>
                </a:solidFill>
              </a:rPr>
              <a:t>4,844 | ↑ Stable start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804672" y="1371600"/>
            <a:ext cx="658368" cy="1645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04672" y="1371600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C5E"/>
                </a:solidFill>
              </a:rPr>
              <a:t>Q2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481328" y="137160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1481328" y="137160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0.7669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907792" y="137160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2907792" y="137160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0.7746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334256" y="137160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334256" y="137160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0.7100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760720" y="1371600"/>
            <a:ext cx="1408176" cy="164592"/>
          </a:xfrm>
          <a:prstGeom prst="rect">
            <a:avLst/>
          </a:prstGeom>
          <a:solidFill>
            <a:srgbClr val="FDECEA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5760720" y="137160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1A1A"/>
                </a:solidFill>
              </a:rPr>
              <a:t>0.6614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187184" y="1371600"/>
            <a:ext cx="1755648" cy="1645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7223760" y="1371600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E82"/>
                </a:solidFill>
              </a:rPr>
              <a:t>0 | ▼ Low (0 signals)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804672" y="1554480"/>
            <a:ext cx="658368" cy="164592"/>
          </a:xfrm>
          <a:prstGeom prst="rect">
            <a:avLst/>
          </a:prstGeom>
          <a:solidFill>
            <a:srgbClr val="F8FAFC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804672" y="1554480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C5E"/>
                </a:solidFill>
              </a:rPr>
              <a:t>Q3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481328" y="1554480"/>
            <a:ext cx="1408176" cy="164592"/>
          </a:xfrm>
          <a:prstGeom prst="rect">
            <a:avLst/>
          </a:prstGeom>
          <a:solidFill>
            <a:srgbClr val="D6E8F7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1481328" y="155448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4F8B"/>
                </a:solidFill>
              </a:rPr>
              <a:t>0.8527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907792" y="155448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2907792" y="155448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0.7661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334256" y="155448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334256" y="155448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0.6923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760720" y="155448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5760720" y="155448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0.7178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187184" y="1554480"/>
            <a:ext cx="1755648" cy="164592"/>
          </a:xfrm>
          <a:prstGeom prst="rect">
            <a:avLst/>
          </a:prstGeom>
          <a:solidFill>
            <a:srgbClr val="F8FAFC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7223760" y="1554480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E82"/>
                </a:solidFill>
              </a:rPr>
              <a:t>4,127 | ↑ Recovery peak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804672" y="1737360"/>
            <a:ext cx="658368" cy="1645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804672" y="1737360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C5E"/>
                </a:solidFill>
              </a:rPr>
              <a:t>Q4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481328" y="1737360"/>
            <a:ext cx="1408176" cy="164592"/>
          </a:xfrm>
          <a:prstGeom prst="rect">
            <a:avLst/>
          </a:prstGeom>
          <a:solidFill>
            <a:srgbClr val="D6F0E8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1481328" y="173736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6E56"/>
                </a:solidFill>
              </a:rPr>
              <a:t>0.8333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907792" y="173736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2907792" y="173736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0.7646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334256" y="173736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4334256" y="173736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0.7006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760720" y="173736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5760720" y="173736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0.7075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7187184" y="1737360"/>
            <a:ext cx="1755648" cy="1645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7223760" y="1737360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E82"/>
                </a:solidFill>
              </a:rPr>
              <a:t>3,950 | → Steady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256032" y="1920240"/>
            <a:ext cx="530352" cy="74980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256032" y="1920240"/>
            <a:ext cx="5303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2022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804672" y="1920240"/>
            <a:ext cx="658368" cy="164592"/>
          </a:xfrm>
          <a:prstGeom prst="rect">
            <a:avLst/>
          </a:prstGeom>
          <a:solidFill>
            <a:srgbClr val="F8FAFC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804672" y="1920240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C5E"/>
                </a:solidFill>
              </a:rPr>
              <a:t>Q1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1481328" y="1920240"/>
            <a:ext cx="1408176" cy="164592"/>
          </a:xfrm>
          <a:prstGeom prst="rect">
            <a:avLst/>
          </a:prstGeom>
          <a:solidFill>
            <a:srgbClr val="D6F0E8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1481328" y="192024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6E56"/>
                </a:solidFill>
              </a:rPr>
              <a:t>0.8348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2907792" y="192024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2907792" y="192024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0.7973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334256" y="1920240"/>
            <a:ext cx="1408176" cy="164592"/>
          </a:xfrm>
          <a:prstGeom prst="rect">
            <a:avLst/>
          </a:prstGeom>
          <a:solidFill>
            <a:srgbClr val="FDECEA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4334256" y="192024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1A1A"/>
                </a:solidFill>
              </a:rPr>
              <a:t>0.6589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5760720" y="1920240"/>
            <a:ext cx="1408176" cy="164592"/>
          </a:xfrm>
          <a:prstGeom prst="rect">
            <a:avLst/>
          </a:prstGeom>
          <a:solidFill>
            <a:srgbClr val="FDECEA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5760720" y="192024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1A1A"/>
                </a:solidFill>
              </a:rPr>
              <a:t>0.6771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7187184" y="1920240"/>
            <a:ext cx="1755648" cy="164592"/>
          </a:xfrm>
          <a:prstGeom prst="rect">
            <a:avLst/>
          </a:prstGeom>
          <a:solidFill>
            <a:srgbClr val="F8FAFC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7223760" y="1920240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E82"/>
                </a:solidFill>
              </a:rPr>
              <a:t>4,712 | ↑ Improving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804672" y="2103120"/>
            <a:ext cx="658368" cy="1645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804672" y="2103120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C5E"/>
                </a:solidFill>
              </a:rPr>
              <a:t>Q2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1481328" y="210312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1481328" y="210312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0.7669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2907792" y="210312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2907792" y="210312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0.7933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4334256" y="2103120"/>
            <a:ext cx="1408176" cy="164592"/>
          </a:xfrm>
          <a:prstGeom prst="rect">
            <a:avLst/>
          </a:prstGeom>
          <a:solidFill>
            <a:srgbClr val="FDECEA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4334256" y="210312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1A1A"/>
                </a:solidFill>
              </a:rPr>
              <a:t>0.5926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5760720" y="2103120"/>
            <a:ext cx="1408176" cy="164592"/>
          </a:xfrm>
          <a:prstGeom prst="rect">
            <a:avLst/>
          </a:prstGeom>
          <a:solidFill>
            <a:srgbClr val="FDECEA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5760720" y="210312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1A1A"/>
                </a:solidFill>
              </a:rPr>
              <a:t>0.6710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7187184" y="2103120"/>
            <a:ext cx="1755648" cy="1645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101"/>
          <p:cNvSpPr/>
          <p:nvPr/>
        </p:nvSpPr>
        <p:spPr>
          <a:xfrm>
            <a:off x="7223760" y="2103120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E82"/>
                </a:solidFill>
              </a:rPr>
              <a:t>4,638 | ▼ Infant dip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804672" y="2286000"/>
            <a:ext cx="658368" cy="164592"/>
          </a:xfrm>
          <a:prstGeom prst="rect">
            <a:avLst/>
          </a:prstGeom>
          <a:solidFill>
            <a:srgbClr val="F8FAFC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Text 103"/>
          <p:cNvSpPr/>
          <p:nvPr/>
        </p:nvSpPr>
        <p:spPr>
          <a:xfrm>
            <a:off x="804672" y="2286000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C5E"/>
                </a:solidFill>
              </a:rPr>
              <a:t>Q3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1481328" y="2286000"/>
            <a:ext cx="1408176" cy="164592"/>
          </a:xfrm>
          <a:prstGeom prst="rect">
            <a:avLst/>
          </a:prstGeom>
          <a:solidFill>
            <a:srgbClr val="D6E8F7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1481328" y="228600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4F8B"/>
                </a:solidFill>
              </a:rPr>
              <a:t>0.8545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2907792" y="228600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2907792" y="228600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0.7701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4334256" y="2286000"/>
            <a:ext cx="1408176" cy="164592"/>
          </a:xfrm>
          <a:prstGeom prst="rect">
            <a:avLst/>
          </a:prstGeom>
          <a:solidFill>
            <a:srgbClr val="FDECEA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4334256" y="228600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1A1A"/>
                </a:solidFill>
              </a:rPr>
              <a:t>0.6596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5760720" y="2286000"/>
            <a:ext cx="1408176" cy="164592"/>
          </a:xfrm>
          <a:prstGeom prst="rect">
            <a:avLst/>
          </a:prstGeom>
          <a:solidFill>
            <a:srgbClr val="FDECEA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5760720" y="228600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1A1A"/>
                </a:solidFill>
              </a:rPr>
              <a:t>0.6615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7187184" y="2286000"/>
            <a:ext cx="1755648" cy="164592"/>
          </a:xfrm>
          <a:prstGeom prst="rect">
            <a:avLst/>
          </a:prstGeom>
          <a:solidFill>
            <a:srgbClr val="F8FAFC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Text 113"/>
          <p:cNvSpPr/>
          <p:nvPr/>
        </p:nvSpPr>
        <p:spPr>
          <a:xfrm>
            <a:off x="7223760" y="2286000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E82"/>
                </a:solidFill>
              </a:rPr>
              <a:t>4,324 | ↑ Best 2022 ADOL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804672" y="2468880"/>
            <a:ext cx="658368" cy="1645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5"/>
          <p:cNvSpPr/>
          <p:nvPr/>
        </p:nvSpPr>
        <p:spPr>
          <a:xfrm>
            <a:off x="804672" y="2468880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C5E"/>
                </a:solidFill>
              </a:rPr>
              <a:t>Q4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1481328" y="2468880"/>
            <a:ext cx="1408176" cy="164592"/>
          </a:xfrm>
          <a:prstGeom prst="rect">
            <a:avLst/>
          </a:prstGeom>
          <a:solidFill>
            <a:srgbClr val="D6F0E8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1481328" y="246888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6E56"/>
                </a:solidFill>
              </a:rPr>
              <a:t>0.8379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2907792" y="246888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2907792" y="246888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0.7795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4334256" y="2468880"/>
            <a:ext cx="1408176" cy="164592"/>
          </a:xfrm>
          <a:prstGeom prst="rect">
            <a:avLst/>
          </a:prstGeom>
          <a:solidFill>
            <a:srgbClr val="FDECEA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4334256" y="246888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1A1A"/>
                </a:solidFill>
              </a:rPr>
              <a:t>0.6391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5760720" y="2468880"/>
            <a:ext cx="1408176" cy="164592"/>
          </a:xfrm>
          <a:prstGeom prst="rect">
            <a:avLst/>
          </a:prstGeom>
          <a:solidFill>
            <a:srgbClr val="FDECEA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5760720" y="246888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1A1A"/>
                </a:solidFill>
              </a:rPr>
              <a:t>0.6551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7187184" y="2468880"/>
            <a:ext cx="1755648" cy="1645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7223760" y="2468880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E82"/>
                </a:solidFill>
              </a:rPr>
              <a:t>4,181 | → Stable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256032" y="2651760"/>
            <a:ext cx="530352" cy="74980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256032" y="2651760"/>
            <a:ext cx="5303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2023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804672" y="2651760"/>
            <a:ext cx="658368" cy="164592"/>
          </a:xfrm>
          <a:prstGeom prst="rect">
            <a:avLst/>
          </a:prstGeom>
          <a:solidFill>
            <a:srgbClr val="F8FAFC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1" name="Text 129"/>
          <p:cNvSpPr/>
          <p:nvPr/>
        </p:nvSpPr>
        <p:spPr>
          <a:xfrm>
            <a:off x="804672" y="2651760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C5E"/>
                </a:solidFill>
              </a:rPr>
              <a:t>Q1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1481328" y="2651760"/>
            <a:ext cx="1408176" cy="164592"/>
          </a:xfrm>
          <a:prstGeom prst="rect">
            <a:avLst/>
          </a:prstGeom>
          <a:solidFill>
            <a:srgbClr val="D6E8F7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Text 131"/>
          <p:cNvSpPr/>
          <p:nvPr/>
        </p:nvSpPr>
        <p:spPr>
          <a:xfrm>
            <a:off x="1481328" y="265176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4F8B"/>
                </a:solidFill>
              </a:rPr>
              <a:t>0.8504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2907792" y="2651760"/>
            <a:ext cx="1408176" cy="164592"/>
          </a:xfrm>
          <a:prstGeom prst="rect">
            <a:avLst/>
          </a:prstGeom>
          <a:solidFill>
            <a:srgbClr val="D6F0E8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2907792" y="265176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6E56"/>
                </a:solidFill>
              </a:rPr>
              <a:t>0.8078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4334256" y="265176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" name="Text 135"/>
          <p:cNvSpPr/>
          <p:nvPr/>
        </p:nvSpPr>
        <p:spPr>
          <a:xfrm>
            <a:off x="4334256" y="265176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0.6896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5760720" y="265176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9" name="Text 137"/>
          <p:cNvSpPr/>
          <p:nvPr/>
        </p:nvSpPr>
        <p:spPr>
          <a:xfrm>
            <a:off x="5760720" y="265176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0.7107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7187184" y="2651760"/>
            <a:ext cx="1755648" cy="164592"/>
          </a:xfrm>
          <a:prstGeom prst="rect">
            <a:avLst/>
          </a:prstGeom>
          <a:solidFill>
            <a:srgbClr val="F8FAFC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1" name="Text 139"/>
          <p:cNvSpPr/>
          <p:nvPr/>
        </p:nvSpPr>
        <p:spPr>
          <a:xfrm>
            <a:off x="7223760" y="2651760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E82"/>
                </a:solidFill>
              </a:rPr>
              <a:t>5,203 | ↑ Child crosses 0.80</a:t>
            </a:r>
            <a:endParaRPr lang="en-US" sz="750" dirty="0"/>
          </a:p>
        </p:txBody>
      </p:sp>
      <p:sp>
        <p:nvSpPr>
          <p:cNvPr id="142" name="Shape 140"/>
          <p:cNvSpPr/>
          <p:nvPr/>
        </p:nvSpPr>
        <p:spPr>
          <a:xfrm>
            <a:off x="804672" y="2834640"/>
            <a:ext cx="658368" cy="1645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3" name="Text 141"/>
          <p:cNvSpPr/>
          <p:nvPr/>
        </p:nvSpPr>
        <p:spPr>
          <a:xfrm>
            <a:off x="804672" y="2834640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C5E"/>
                </a:solidFill>
              </a:rPr>
              <a:t>Q2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1481328" y="2834640"/>
            <a:ext cx="1408176" cy="164592"/>
          </a:xfrm>
          <a:prstGeom prst="rect">
            <a:avLst/>
          </a:prstGeom>
          <a:solidFill>
            <a:srgbClr val="D6F0E8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5" name="Text 143"/>
          <p:cNvSpPr/>
          <p:nvPr/>
        </p:nvSpPr>
        <p:spPr>
          <a:xfrm>
            <a:off x="1481328" y="283464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6E56"/>
                </a:solidFill>
              </a:rPr>
              <a:t>0.8397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2907792" y="2834640"/>
            <a:ext cx="1408176" cy="164592"/>
          </a:xfrm>
          <a:prstGeom prst="rect">
            <a:avLst/>
          </a:prstGeom>
          <a:solidFill>
            <a:srgbClr val="D6F0E8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7" name="Text 145"/>
          <p:cNvSpPr/>
          <p:nvPr/>
        </p:nvSpPr>
        <p:spPr>
          <a:xfrm>
            <a:off x="2907792" y="283464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6E56"/>
                </a:solidFill>
              </a:rPr>
              <a:t>0.8164</a:t>
            </a:r>
            <a:endParaRPr lang="en-US" sz="800" dirty="0"/>
          </a:p>
        </p:txBody>
      </p:sp>
      <p:sp>
        <p:nvSpPr>
          <p:cNvPr id="148" name="Shape 146"/>
          <p:cNvSpPr/>
          <p:nvPr/>
        </p:nvSpPr>
        <p:spPr>
          <a:xfrm>
            <a:off x="4334256" y="283464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4334256" y="283464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0.6836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5760720" y="283464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5760720" y="283464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0.7119</a:t>
            </a:r>
            <a:endParaRPr lang="en-US" sz="800" dirty="0"/>
          </a:p>
        </p:txBody>
      </p:sp>
      <p:sp>
        <p:nvSpPr>
          <p:cNvPr id="152" name="Shape 150"/>
          <p:cNvSpPr/>
          <p:nvPr/>
        </p:nvSpPr>
        <p:spPr>
          <a:xfrm>
            <a:off x="7187184" y="2834640"/>
            <a:ext cx="1755648" cy="1645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3" name="Text 151"/>
          <p:cNvSpPr/>
          <p:nvPr/>
        </p:nvSpPr>
        <p:spPr>
          <a:xfrm>
            <a:off x="7223760" y="2834640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E82"/>
                </a:solidFill>
              </a:rPr>
              <a:t>4,978 | ↑ 2023 peak</a:t>
            </a:r>
            <a:endParaRPr lang="en-US" sz="750" dirty="0"/>
          </a:p>
        </p:txBody>
      </p:sp>
      <p:sp>
        <p:nvSpPr>
          <p:cNvPr id="154" name="Shape 152"/>
          <p:cNvSpPr/>
          <p:nvPr/>
        </p:nvSpPr>
        <p:spPr>
          <a:xfrm>
            <a:off x="804672" y="3017520"/>
            <a:ext cx="658368" cy="164592"/>
          </a:xfrm>
          <a:prstGeom prst="rect">
            <a:avLst/>
          </a:prstGeom>
          <a:solidFill>
            <a:srgbClr val="F8FAFC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5" name="Text 153"/>
          <p:cNvSpPr/>
          <p:nvPr/>
        </p:nvSpPr>
        <p:spPr>
          <a:xfrm>
            <a:off x="804672" y="3017520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C5E"/>
                </a:solidFill>
              </a:rPr>
              <a:t>Q3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1481328" y="3017520"/>
            <a:ext cx="1408176" cy="164592"/>
          </a:xfrm>
          <a:prstGeom prst="rect">
            <a:avLst/>
          </a:prstGeom>
          <a:solidFill>
            <a:srgbClr val="D6E8F7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1481328" y="301752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4F8B"/>
                </a:solidFill>
              </a:rPr>
              <a:t>0.8523</a:t>
            </a:r>
            <a:endParaRPr lang="en-US" sz="850" dirty="0"/>
          </a:p>
        </p:txBody>
      </p:sp>
      <p:sp>
        <p:nvSpPr>
          <p:cNvPr id="158" name="Shape 156"/>
          <p:cNvSpPr/>
          <p:nvPr/>
        </p:nvSpPr>
        <p:spPr>
          <a:xfrm>
            <a:off x="2907792" y="301752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9" name="Text 157"/>
          <p:cNvSpPr/>
          <p:nvPr/>
        </p:nvSpPr>
        <p:spPr>
          <a:xfrm>
            <a:off x="2907792" y="301752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0.7872</a:t>
            </a:r>
            <a:endParaRPr lang="en-US" sz="800" dirty="0"/>
          </a:p>
        </p:txBody>
      </p:sp>
      <p:sp>
        <p:nvSpPr>
          <p:cNvPr id="160" name="Shape 158"/>
          <p:cNvSpPr/>
          <p:nvPr/>
        </p:nvSpPr>
        <p:spPr>
          <a:xfrm>
            <a:off x="4334256" y="301752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1" name="Text 159"/>
          <p:cNvSpPr/>
          <p:nvPr/>
        </p:nvSpPr>
        <p:spPr>
          <a:xfrm>
            <a:off x="4334256" y="301752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0.6909</a:t>
            </a:r>
            <a:endParaRPr lang="en-US" sz="800" dirty="0"/>
          </a:p>
        </p:txBody>
      </p:sp>
      <p:sp>
        <p:nvSpPr>
          <p:cNvPr id="162" name="Shape 160"/>
          <p:cNvSpPr/>
          <p:nvPr/>
        </p:nvSpPr>
        <p:spPr>
          <a:xfrm>
            <a:off x="5760720" y="301752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3" name="Text 161"/>
          <p:cNvSpPr/>
          <p:nvPr/>
        </p:nvSpPr>
        <p:spPr>
          <a:xfrm>
            <a:off x="5760720" y="301752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0.6990</a:t>
            </a:r>
            <a:endParaRPr lang="en-US" sz="800" dirty="0"/>
          </a:p>
        </p:txBody>
      </p:sp>
      <p:sp>
        <p:nvSpPr>
          <p:cNvPr id="164" name="Shape 162"/>
          <p:cNvSpPr/>
          <p:nvPr/>
        </p:nvSpPr>
        <p:spPr>
          <a:xfrm>
            <a:off x="7187184" y="3017520"/>
            <a:ext cx="1755648" cy="164592"/>
          </a:xfrm>
          <a:prstGeom prst="rect">
            <a:avLst/>
          </a:prstGeom>
          <a:solidFill>
            <a:srgbClr val="F8FAFC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5" name="Text 163"/>
          <p:cNvSpPr/>
          <p:nvPr/>
        </p:nvSpPr>
        <p:spPr>
          <a:xfrm>
            <a:off x="7223760" y="3017520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E82"/>
                </a:solidFill>
              </a:rPr>
              <a:t>4,809 | → Stable</a:t>
            </a:r>
            <a:endParaRPr lang="en-US" sz="750" dirty="0"/>
          </a:p>
        </p:txBody>
      </p:sp>
      <p:sp>
        <p:nvSpPr>
          <p:cNvPr id="166" name="Shape 164"/>
          <p:cNvSpPr/>
          <p:nvPr/>
        </p:nvSpPr>
        <p:spPr>
          <a:xfrm>
            <a:off x="804672" y="3200400"/>
            <a:ext cx="658368" cy="1645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7" name="Text 165"/>
          <p:cNvSpPr/>
          <p:nvPr/>
        </p:nvSpPr>
        <p:spPr>
          <a:xfrm>
            <a:off x="804672" y="3200400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C5E"/>
                </a:solidFill>
              </a:rPr>
              <a:t>Q4</a:t>
            </a:r>
            <a:endParaRPr lang="en-US" sz="800" dirty="0"/>
          </a:p>
        </p:txBody>
      </p:sp>
      <p:sp>
        <p:nvSpPr>
          <p:cNvPr id="168" name="Shape 166"/>
          <p:cNvSpPr/>
          <p:nvPr/>
        </p:nvSpPr>
        <p:spPr>
          <a:xfrm>
            <a:off x="1481328" y="3200400"/>
            <a:ext cx="1408176" cy="164592"/>
          </a:xfrm>
          <a:prstGeom prst="rect">
            <a:avLst/>
          </a:prstGeom>
          <a:solidFill>
            <a:srgbClr val="D6F0E8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9" name="Text 167"/>
          <p:cNvSpPr/>
          <p:nvPr/>
        </p:nvSpPr>
        <p:spPr>
          <a:xfrm>
            <a:off x="1481328" y="320040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6E56"/>
                </a:solidFill>
              </a:rPr>
              <a:t>0.8379</a:t>
            </a:r>
            <a:endParaRPr lang="en-US" sz="800" dirty="0"/>
          </a:p>
        </p:txBody>
      </p:sp>
      <p:sp>
        <p:nvSpPr>
          <p:cNvPr id="170" name="Shape 168"/>
          <p:cNvSpPr/>
          <p:nvPr/>
        </p:nvSpPr>
        <p:spPr>
          <a:xfrm>
            <a:off x="2907792" y="320040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1" name="Text 169"/>
          <p:cNvSpPr/>
          <p:nvPr/>
        </p:nvSpPr>
        <p:spPr>
          <a:xfrm>
            <a:off x="2907792" y="320040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0.7624</a:t>
            </a:r>
            <a:endParaRPr lang="en-US" sz="800" dirty="0"/>
          </a:p>
        </p:txBody>
      </p:sp>
      <p:sp>
        <p:nvSpPr>
          <p:cNvPr id="172" name="Shape 170"/>
          <p:cNvSpPr/>
          <p:nvPr/>
        </p:nvSpPr>
        <p:spPr>
          <a:xfrm>
            <a:off x="4334256" y="320040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3" name="Text 171"/>
          <p:cNvSpPr/>
          <p:nvPr/>
        </p:nvSpPr>
        <p:spPr>
          <a:xfrm>
            <a:off x="4334256" y="320040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0.6856</a:t>
            </a:r>
            <a:endParaRPr lang="en-US" sz="800" dirty="0"/>
          </a:p>
        </p:txBody>
      </p:sp>
      <p:sp>
        <p:nvSpPr>
          <p:cNvPr id="174" name="Shape 172"/>
          <p:cNvSpPr/>
          <p:nvPr/>
        </p:nvSpPr>
        <p:spPr>
          <a:xfrm>
            <a:off x="5760720" y="320040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5" name="Text 173"/>
          <p:cNvSpPr/>
          <p:nvPr/>
        </p:nvSpPr>
        <p:spPr>
          <a:xfrm>
            <a:off x="5760720" y="320040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0.7044</a:t>
            </a:r>
            <a:endParaRPr lang="en-US" sz="800" dirty="0"/>
          </a:p>
        </p:txBody>
      </p:sp>
      <p:sp>
        <p:nvSpPr>
          <p:cNvPr id="176" name="Shape 174"/>
          <p:cNvSpPr/>
          <p:nvPr/>
        </p:nvSpPr>
        <p:spPr>
          <a:xfrm>
            <a:off x="7187184" y="3200400"/>
            <a:ext cx="1755648" cy="1645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7" name="Text 175"/>
          <p:cNvSpPr/>
          <p:nvPr/>
        </p:nvSpPr>
        <p:spPr>
          <a:xfrm>
            <a:off x="7223760" y="3200400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E82"/>
                </a:solidFill>
              </a:rPr>
              <a:t>4,334 | → Stable</a:t>
            </a:r>
            <a:endParaRPr lang="en-US" sz="750" dirty="0"/>
          </a:p>
        </p:txBody>
      </p:sp>
      <p:sp>
        <p:nvSpPr>
          <p:cNvPr id="178" name="Shape 176"/>
          <p:cNvSpPr/>
          <p:nvPr/>
        </p:nvSpPr>
        <p:spPr>
          <a:xfrm>
            <a:off x="256032" y="3383280"/>
            <a:ext cx="530352" cy="74980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9" name="Text 177"/>
          <p:cNvSpPr/>
          <p:nvPr/>
        </p:nvSpPr>
        <p:spPr>
          <a:xfrm>
            <a:off x="256032" y="3383280"/>
            <a:ext cx="5303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2024</a:t>
            </a:r>
            <a:endParaRPr lang="en-US" sz="1000" dirty="0"/>
          </a:p>
        </p:txBody>
      </p:sp>
      <p:sp>
        <p:nvSpPr>
          <p:cNvPr id="180" name="Shape 178"/>
          <p:cNvSpPr/>
          <p:nvPr/>
        </p:nvSpPr>
        <p:spPr>
          <a:xfrm>
            <a:off x="804672" y="3383280"/>
            <a:ext cx="658368" cy="164592"/>
          </a:xfrm>
          <a:prstGeom prst="rect">
            <a:avLst/>
          </a:prstGeom>
          <a:solidFill>
            <a:srgbClr val="F8FAFC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1" name="Text 179"/>
          <p:cNvSpPr/>
          <p:nvPr/>
        </p:nvSpPr>
        <p:spPr>
          <a:xfrm>
            <a:off x="804672" y="3383280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C5E"/>
                </a:solidFill>
              </a:rPr>
              <a:t>Q1</a:t>
            </a:r>
            <a:endParaRPr lang="en-US" sz="800" dirty="0"/>
          </a:p>
        </p:txBody>
      </p:sp>
      <p:sp>
        <p:nvSpPr>
          <p:cNvPr id="182" name="Shape 180"/>
          <p:cNvSpPr/>
          <p:nvPr/>
        </p:nvSpPr>
        <p:spPr>
          <a:xfrm>
            <a:off x="1481328" y="3383280"/>
            <a:ext cx="1408176" cy="164592"/>
          </a:xfrm>
          <a:prstGeom prst="rect">
            <a:avLst/>
          </a:prstGeom>
          <a:solidFill>
            <a:srgbClr val="D6E8F7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3" name="Text 181"/>
          <p:cNvSpPr/>
          <p:nvPr/>
        </p:nvSpPr>
        <p:spPr>
          <a:xfrm>
            <a:off x="1481328" y="338328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4F8B"/>
                </a:solidFill>
              </a:rPr>
              <a:t>0.8493</a:t>
            </a:r>
            <a:endParaRPr lang="en-US" sz="850" dirty="0"/>
          </a:p>
        </p:txBody>
      </p:sp>
      <p:sp>
        <p:nvSpPr>
          <p:cNvPr id="184" name="Shape 182"/>
          <p:cNvSpPr/>
          <p:nvPr/>
        </p:nvSpPr>
        <p:spPr>
          <a:xfrm>
            <a:off x="2907792" y="3383280"/>
            <a:ext cx="1408176" cy="164592"/>
          </a:xfrm>
          <a:prstGeom prst="rect">
            <a:avLst/>
          </a:prstGeom>
          <a:solidFill>
            <a:srgbClr val="D6F0E8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5" name="Text 183"/>
          <p:cNvSpPr/>
          <p:nvPr/>
        </p:nvSpPr>
        <p:spPr>
          <a:xfrm>
            <a:off x="2907792" y="338328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6E56"/>
                </a:solidFill>
              </a:rPr>
              <a:t>0.8034</a:t>
            </a:r>
            <a:endParaRPr lang="en-US" sz="800" dirty="0"/>
          </a:p>
        </p:txBody>
      </p:sp>
      <p:sp>
        <p:nvSpPr>
          <p:cNvPr id="186" name="Shape 184"/>
          <p:cNvSpPr/>
          <p:nvPr/>
        </p:nvSpPr>
        <p:spPr>
          <a:xfrm>
            <a:off x="4334256" y="338328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7" name="Text 185"/>
          <p:cNvSpPr/>
          <p:nvPr/>
        </p:nvSpPr>
        <p:spPr>
          <a:xfrm>
            <a:off x="4334256" y="338328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0.6870</a:t>
            </a:r>
            <a:endParaRPr lang="en-US" sz="800" dirty="0"/>
          </a:p>
        </p:txBody>
      </p:sp>
      <p:sp>
        <p:nvSpPr>
          <p:cNvPr id="188" name="Shape 186"/>
          <p:cNvSpPr/>
          <p:nvPr/>
        </p:nvSpPr>
        <p:spPr>
          <a:xfrm>
            <a:off x="5760720" y="3383280"/>
            <a:ext cx="1408176" cy="164592"/>
          </a:xfrm>
          <a:prstGeom prst="rect">
            <a:avLst/>
          </a:prstGeom>
          <a:solidFill>
            <a:srgbClr val="FDECEA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9" name="Text 187"/>
          <p:cNvSpPr/>
          <p:nvPr/>
        </p:nvSpPr>
        <p:spPr>
          <a:xfrm>
            <a:off x="5760720" y="338328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1A1A"/>
                </a:solidFill>
              </a:rPr>
              <a:t>0.6799</a:t>
            </a:r>
            <a:endParaRPr lang="en-US" sz="800" dirty="0"/>
          </a:p>
        </p:txBody>
      </p:sp>
      <p:sp>
        <p:nvSpPr>
          <p:cNvPr id="190" name="Shape 188"/>
          <p:cNvSpPr/>
          <p:nvPr/>
        </p:nvSpPr>
        <p:spPr>
          <a:xfrm>
            <a:off x="7187184" y="3383280"/>
            <a:ext cx="1755648" cy="164592"/>
          </a:xfrm>
          <a:prstGeom prst="rect">
            <a:avLst/>
          </a:prstGeom>
          <a:solidFill>
            <a:srgbClr val="F8FAFC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1" name="Text 189"/>
          <p:cNvSpPr/>
          <p:nvPr/>
        </p:nvSpPr>
        <p:spPr>
          <a:xfrm>
            <a:off x="7223760" y="3383280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E82"/>
                </a:solidFill>
              </a:rPr>
              <a:t>5,344 | ↑ Most signals 2024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804672" y="3566160"/>
            <a:ext cx="658368" cy="1645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3" name="Text 191"/>
          <p:cNvSpPr/>
          <p:nvPr/>
        </p:nvSpPr>
        <p:spPr>
          <a:xfrm>
            <a:off x="804672" y="3566160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C5E"/>
                </a:solidFill>
              </a:rPr>
              <a:t>Q2</a:t>
            </a:r>
            <a:endParaRPr lang="en-US" sz="800" dirty="0"/>
          </a:p>
        </p:txBody>
      </p:sp>
      <p:sp>
        <p:nvSpPr>
          <p:cNvPr id="194" name="Shape 192"/>
          <p:cNvSpPr/>
          <p:nvPr/>
        </p:nvSpPr>
        <p:spPr>
          <a:xfrm>
            <a:off x="1481328" y="3566160"/>
            <a:ext cx="1408176" cy="164592"/>
          </a:xfrm>
          <a:prstGeom prst="rect">
            <a:avLst/>
          </a:prstGeom>
          <a:solidFill>
            <a:srgbClr val="D6E8F7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5" name="Text 193"/>
          <p:cNvSpPr/>
          <p:nvPr/>
        </p:nvSpPr>
        <p:spPr>
          <a:xfrm>
            <a:off x="1481328" y="356616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4F8B"/>
                </a:solidFill>
              </a:rPr>
              <a:t>0.8502</a:t>
            </a:r>
            <a:endParaRPr lang="en-US" sz="850" dirty="0"/>
          </a:p>
        </p:txBody>
      </p:sp>
      <p:sp>
        <p:nvSpPr>
          <p:cNvPr id="196" name="Shape 194"/>
          <p:cNvSpPr/>
          <p:nvPr/>
        </p:nvSpPr>
        <p:spPr>
          <a:xfrm>
            <a:off x="2907792" y="3566160"/>
            <a:ext cx="1408176" cy="164592"/>
          </a:xfrm>
          <a:prstGeom prst="rect">
            <a:avLst/>
          </a:prstGeom>
          <a:solidFill>
            <a:srgbClr val="D6F0E8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7" name="Text 195"/>
          <p:cNvSpPr/>
          <p:nvPr/>
        </p:nvSpPr>
        <p:spPr>
          <a:xfrm>
            <a:off x="2907792" y="356616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6E56"/>
                </a:solidFill>
              </a:rPr>
              <a:t>0.8064</a:t>
            </a:r>
            <a:endParaRPr lang="en-US" sz="800" dirty="0"/>
          </a:p>
        </p:txBody>
      </p:sp>
      <p:sp>
        <p:nvSpPr>
          <p:cNvPr id="198" name="Shape 196"/>
          <p:cNvSpPr/>
          <p:nvPr/>
        </p:nvSpPr>
        <p:spPr>
          <a:xfrm>
            <a:off x="4334256" y="3566160"/>
            <a:ext cx="1408176" cy="164592"/>
          </a:xfrm>
          <a:prstGeom prst="rect">
            <a:avLst/>
          </a:prstGeom>
          <a:solidFill>
            <a:srgbClr val="FDECEA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9" name="Text 197"/>
          <p:cNvSpPr/>
          <p:nvPr/>
        </p:nvSpPr>
        <p:spPr>
          <a:xfrm>
            <a:off x="4334256" y="356616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1A1A"/>
                </a:solidFill>
              </a:rPr>
              <a:t>0.6794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5760720" y="3566160"/>
            <a:ext cx="1408176" cy="164592"/>
          </a:xfrm>
          <a:prstGeom prst="rect">
            <a:avLst/>
          </a:prstGeom>
          <a:solidFill>
            <a:srgbClr val="FDECEA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1" name="Text 199"/>
          <p:cNvSpPr/>
          <p:nvPr/>
        </p:nvSpPr>
        <p:spPr>
          <a:xfrm>
            <a:off x="5760720" y="356616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1A1A"/>
                </a:solidFill>
              </a:rPr>
              <a:t>0.6262</a:t>
            </a:r>
            <a:endParaRPr lang="en-US" sz="800" dirty="0"/>
          </a:p>
        </p:txBody>
      </p:sp>
      <p:sp>
        <p:nvSpPr>
          <p:cNvPr id="202" name="Shape 200"/>
          <p:cNvSpPr/>
          <p:nvPr/>
        </p:nvSpPr>
        <p:spPr>
          <a:xfrm>
            <a:off x="7187184" y="3566160"/>
            <a:ext cx="1755648" cy="1645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3" name="Text 201"/>
          <p:cNvSpPr/>
          <p:nvPr/>
        </p:nvSpPr>
        <p:spPr>
          <a:xfrm>
            <a:off x="7223760" y="3566160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E82"/>
                </a:solidFill>
              </a:rPr>
              <a:t>6,374 | ↑ Signal count surge</a:t>
            </a:r>
            <a:endParaRPr lang="en-US" sz="750" dirty="0"/>
          </a:p>
        </p:txBody>
      </p:sp>
      <p:sp>
        <p:nvSpPr>
          <p:cNvPr id="204" name="Shape 202"/>
          <p:cNvSpPr/>
          <p:nvPr/>
        </p:nvSpPr>
        <p:spPr>
          <a:xfrm>
            <a:off x="804672" y="3749040"/>
            <a:ext cx="658368" cy="164592"/>
          </a:xfrm>
          <a:prstGeom prst="rect">
            <a:avLst/>
          </a:prstGeom>
          <a:solidFill>
            <a:srgbClr val="F8FAFC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5" name="Text 203"/>
          <p:cNvSpPr/>
          <p:nvPr/>
        </p:nvSpPr>
        <p:spPr>
          <a:xfrm>
            <a:off x="804672" y="3749040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C5E"/>
                </a:solidFill>
              </a:rPr>
              <a:t>Q3</a:t>
            </a:r>
            <a:endParaRPr lang="en-US" sz="800" dirty="0"/>
          </a:p>
        </p:txBody>
      </p:sp>
      <p:sp>
        <p:nvSpPr>
          <p:cNvPr id="206" name="Shape 204"/>
          <p:cNvSpPr/>
          <p:nvPr/>
        </p:nvSpPr>
        <p:spPr>
          <a:xfrm>
            <a:off x="1481328" y="3749040"/>
            <a:ext cx="1408176" cy="164592"/>
          </a:xfrm>
          <a:prstGeom prst="rect">
            <a:avLst/>
          </a:prstGeom>
          <a:solidFill>
            <a:srgbClr val="D6E8F7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7" name="Text 205"/>
          <p:cNvSpPr/>
          <p:nvPr/>
        </p:nvSpPr>
        <p:spPr>
          <a:xfrm>
            <a:off x="1481328" y="374904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4F8B"/>
                </a:solidFill>
              </a:rPr>
              <a:t>0.8497</a:t>
            </a:r>
            <a:endParaRPr lang="en-US" sz="850" dirty="0"/>
          </a:p>
        </p:txBody>
      </p:sp>
      <p:sp>
        <p:nvSpPr>
          <p:cNvPr id="208" name="Shape 206"/>
          <p:cNvSpPr/>
          <p:nvPr/>
        </p:nvSpPr>
        <p:spPr>
          <a:xfrm>
            <a:off x="2907792" y="3749040"/>
            <a:ext cx="1408176" cy="164592"/>
          </a:xfrm>
          <a:prstGeom prst="rect">
            <a:avLst/>
          </a:prstGeom>
          <a:solidFill>
            <a:srgbClr val="D6F0E8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9" name="Text 207"/>
          <p:cNvSpPr/>
          <p:nvPr/>
        </p:nvSpPr>
        <p:spPr>
          <a:xfrm>
            <a:off x="2907792" y="374904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6E56"/>
                </a:solidFill>
              </a:rPr>
              <a:t>0.8137</a:t>
            </a:r>
            <a:endParaRPr lang="en-US" sz="800" dirty="0"/>
          </a:p>
        </p:txBody>
      </p:sp>
      <p:sp>
        <p:nvSpPr>
          <p:cNvPr id="210" name="Shape 208"/>
          <p:cNvSpPr/>
          <p:nvPr/>
        </p:nvSpPr>
        <p:spPr>
          <a:xfrm>
            <a:off x="4334256" y="374904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1" name="Text 209"/>
          <p:cNvSpPr/>
          <p:nvPr/>
        </p:nvSpPr>
        <p:spPr>
          <a:xfrm>
            <a:off x="4334256" y="374904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0.6890</a:t>
            </a:r>
            <a:endParaRPr lang="en-US" sz="800" dirty="0"/>
          </a:p>
        </p:txBody>
      </p:sp>
      <p:sp>
        <p:nvSpPr>
          <p:cNvPr id="212" name="Shape 210"/>
          <p:cNvSpPr/>
          <p:nvPr/>
        </p:nvSpPr>
        <p:spPr>
          <a:xfrm>
            <a:off x="5760720" y="3749040"/>
            <a:ext cx="1408176" cy="164592"/>
          </a:xfrm>
          <a:prstGeom prst="rect">
            <a:avLst/>
          </a:prstGeom>
          <a:solidFill>
            <a:srgbClr val="FDECEA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3" name="Text 211"/>
          <p:cNvSpPr/>
          <p:nvPr/>
        </p:nvSpPr>
        <p:spPr>
          <a:xfrm>
            <a:off x="5760720" y="374904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1A1A"/>
                </a:solidFill>
              </a:rPr>
              <a:t>0.6685</a:t>
            </a:r>
            <a:endParaRPr lang="en-US" sz="800" dirty="0"/>
          </a:p>
        </p:txBody>
      </p:sp>
      <p:sp>
        <p:nvSpPr>
          <p:cNvPr id="214" name="Shape 212"/>
          <p:cNvSpPr/>
          <p:nvPr/>
        </p:nvSpPr>
        <p:spPr>
          <a:xfrm>
            <a:off x="7187184" y="3749040"/>
            <a:ext cx="1755648" cy="164592"/>
          </a:xfrm>
          <a:prstGeom prst="rect">
            <a:avLst/>
          </a:prstGeom>
          <a:solidFill>
            <a:srgbClr val="F8FAFC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5" name="Text 213"/>
          <p:cNvSpPr/>
          <p:nvPr/>
        </p:nvSpPr>
        <p:spPr>
          <a:xfrm>
            <a:off x="7223760" y="3749040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E82"/>
                </a:solidFill>
              </a:rPr>
              <a:t>5,127 | → Consistent</a:t>
            </a:r>
            <a:endParaRPr lang="en-US" sz="750" dirty="0"/>
          </a:p>
        </p:txBody>
      </p:sp>
      <p:sp>
        <p:nvSpPr>
          <p:cNvPr id="216" name="Shape 214"/>
          <p:cNvSpPr/>
          <p:nvPr/>
        </p:nvSpPr>
        <p:spPr>
          <a:xfrm>
            <a:off x="804672" y="3931920"/>
            <a:ext cx="658368" cy="1645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7" name="Text 215"/>
          <p:cNvSpPr/>
          <p:nvPr/>
        </p:nvSpPr>
        <p:spPr>
          <a:xfrm>
            <a:off x="804672" y="3931920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C5E"/>
                </a:solidFill>
              </a:rPr>
              <a:t>Q4</a:t>
            </a:r>
            <a:endParaRPr lang="en-US" sz="800" dirty="0"/>
          </a:p>
        </p:txBody>
      </p:sp>
      <p:sp>
        <p:nvSpPr>
          <p:cNvPr id="218" name="Shape 216"/>
          <p:cNvSpPr/>
          <p:nvPr/>
        </p:nvSpPr>
        <p:spPr>
          <a:xfrm>
            <a:off x="1481328" y="3931920"/>
            <a:ext cx="1408176" cy="164592"/>
          </a:xfrm>
          <a:prstGeom prst="rect">
            <a:avLst/>
          </a:prstGeom>
          <a:solidFill>
            <a:srgbClr val="D6E8F7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9" name="Text 217"/>
          <p:cNvSpPr/>
          <p:nvPr/>
        </p:nvSpPr>
        <p:spPr>
          <a:xfrm>
            <a:off x="1481328" y="393192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4F8B"/>
                </a:solidFill>
              </a:rPr>
              <a:t>0.8442</a:t>
            </a:r>
            <a:endParaRPr lang="en-US" sz="850" dirty="0"/>
          </a:p>
        </p:txBody>
      </p:sp>
      <p:sp>
        <p:nvSpPr>
          <p:cNvPr id="220" name="Shape 218"/>
          <p:cNvSpPr/>
          <p:nvPr/>
        </p:nvSpPr>
        <p:spPr>
          <a:xfrm>
            <a:off x="2907792" y="393192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1" name="Text 219"/>
          <p:cNvSpPr/>
          <p:nvPr/>
        </p:nvSpPr>
        <p:spPr>
          <a:xfrm>
            <a:off x="2907792" y="393192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0.7970</a:t>
            </a:r>
            <a:endParaRPr lang="en-US" sz="800" dirty="0"/>
          </a:p>
        </p:txBody>
      </p:sp>
      <p:sp>
        <p:nvSpPr>
          <p:cNvPr id="222" name="Shape 220"/>
          <p:cNvSpPr/>
          <p:nvPr/>
        </p:nvSpPr>
        <p:spPr>
          <a:xfrm>
            <a:off x="4334256" y="393192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3" name="Text 221"/>
          <p:cNvSpPr/>
          <p:nvPr/>
        </p:nvSpPr>
        <p:spPr>
          <a:xfrm>
            <a:off x="4334256" y="393192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0.7079</a:t>
            </a:r>
            <a:endParaRPr lang="en-US" sz="800" dirty="0"/>
          </a:p>
        </p:txBody>
      </p:sp>
      <p:sp>
        <p:nvSpPr>
          <p:cNvPr id="224" name="Shape 222"/>
          <p:cNvSpPr/>
          <p:nvPr/>
        </p:nvSpPr>
        <p:spPr>
          <a:xfrm>
            <a:off x="5760720" y="3931920"/>
            <a:ext cx="1408176" cy="164592"/>
          </a:xfrm>
          <a:prstGeom prst="rect">
            <a:avLst/>
          </a:prstGeom>
          <a:solidFill>
            <a:srgbClr val="FDECEA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5" name="Text 223"/>
          <p:cNvSpPr/>
          <p:nvPr/>
        </p:nvSpPr>
        <p:spPr>
          <a:xfrm>
            <a:off x="5760720" y="393192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1A1A"/>
                </a:solidFill>
              </a:rPr>
              <a:t>0.6264</a:t>
            </a:r>
            <a:endParaRPr lang="en-US" sz="800" dirty="0"/>
          </a:p>
        </p:txBody>
      </p:sp>
      <p:sp>
        <p:nvSpPr>
          <p:cNvPr id="226" name="Shape 224"/>
          <p:cNvSpPr/>
          <p:nvPr/>
        </p:nvSpPr>
        <p:spPr>
          <a:xfrm>
            <a:off x="7187184" y="3931920"/>
            <a:ext cx="1755648" cy="1645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7" name="Text 225"/>
          <p:cNvSpPr/>
          <p:nvPr/>
        </p:nvSpPr>
        <p:spPr>
          <a:xfrm>
            <a:off x="7223760" y="3931920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E82"/>
                </a:solidFill>
              </a:rPr>
              <a:t>4,889 | ↑ Infant 0.70+</a:t>
            </a:r>
            <a:endParaRPr lang="en-US" sz="750" dirty="0"/>
          </a:p>
        </p:txBody>
      </p:sp>
      <p:sp>
        <p:nvSpPr>
          <p:cNvPr id="228" name="Shape 226"/>
          <p:cNvSpPr/>
          <p:nvPr/>
        </p:nvSpPr>
        <p:spPr>
          <a:xfrm>
            <a:off x="256032" y="4114800"/>
            <a:ext cx="530352" cy="74980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9" name="Text 227"/>
          <p:cNvSpPr/>
          <p:nvPr/>
        </p:nvSpPr>
        <p:spPr>
          <a:xfrm>
            <a:off x="256032" y="4114800"/>
            <a:ext cx="5303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2025</a:t>
            </a:r>
            <a:endParaRPr lang="en-US" sz="1000" dirty="0"/>
          </a:p>
        </p:txBody>
      </p:sp>
      <p:sp>
        <p:nvSpPr>
          <p:cNvPr id="230" name="Shape 228"/>
          <p:cNvSpPr/>
          <p:nvPr/>
        </p:nvSpPr>
        <p:spPr>
          <a:xfrm>
            <a:off x="804672" y="4114800"/>
            <a:ext cx="658368" cy="164592"/>
          </a:xfrm>
          <a:prstGeom prst="rect">
            <a:avLst/>
          </a:prstGeom>
          <a:solidFill>
            <a:srgbClr val="F8FAFC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1" name="Text 229"/>
          <p:cNvSpPr/>
          <p:nvPr/>
        </p:nvSpPr>
        <p:spPr>
          <a:xfrm>
            <a:off x="804672" y="4114800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C5E"/>
                </a:solidFill>
              </a:rPr>
              <a:t>Q1</a:t>
            </a:r>
            <a:endParaRPr lang="en-US" sz="800" dirty="0"/>
          </a:p>
        </p:txBody>
      </p:sp>
      <p:sp>
        <p:nvSpPr>
          <p:cNvPr id="232" name="Shape 230"/>
          <p:cNvSpPr/>
          <p:nvPr/>
        </p:nvSpPr>
        <p:spPr>
          <a:xfrm>
            <a:off x="1481328" y="4114800"/>
            <a:ext cx="1408176" cy="164592"/>
          </a:xfrm>
          <a:prstGeom prst="rect">
            <a:avLst/>
          </a:prstGeom>
          <a:solidFill>
            <a:srgbClr val="D6E8F7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3" name="Text 231"/>
          <p:cNvSpPr/>
          <p:nvPr/>
        </p:nvSpPr>
        <p:spPr>
          <a:xfrm>
            <a:off x="1481328" y="411480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4F8B"/>
                </a:solidFill>
              </a:rPr>
              <a:t>0.8647</a:t>
            </a:r>
            <a:endParaRPr lang="en-US" sz="850" dirty="0"/>
          </a:p>
        </p:txBody>
      </p:sp>
      <p:sp>
        <p:nvSpPr>
          <p:cNvPr id="234" name="Shape 232"/>
          <p:cNvSpPr/>
          <p:nvPr/>
        </p:nvSpPr>
        <p:spPr>
          <a:xfrm>
            <a:off x="2907792" y="4114800"/>
            <a:ext cx="1408176" cy="164592"/>
          </a:xfrm>
          <a:prstGeom prst="rect">
            <a:avLst/>
          </a:prstGeom>
          <a:solidFill>
            <a:srgbClr val="D6F0E8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5" name="Text 233"/>
          <p:cNvSpPr/>
          <p:nvPr/>
        </p:nvSpPr>
        <p:spPr>
          <a:xfrm>
            <a:off x="2907792" y="411480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6E56"/>
                </a:solidFill>
              </a:rPr>
              <a:t>0.8050</a:t>
            </a:r>
            <a:endParaRPr lang="en-US" sz="800" dirty="0"/>
          </a:p>
        </p:txBody>
      </p:sp>
      <p:sp>
        <p:nvSpPr>
          <p:cNvPr id="236" name="Shape 234"/>
          <p:cNvSpPr/>
          <p:nvPr/>
        </p:nvSpPr>
        <p:spPr>
          <a:xfrm>
            <a:off x="4334256" y="4114800"/>
            <a:ext cx="1408176" cy="164592"/>
          </a:xfrm>
          <a:prstGeom prst="rect">
            <a:avLst/>
          </a:prstGeom>
          <a:solidFill>
            <a:srgbClr val="FDECEA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7" name="Text 235"/>
          <p:cNvSpPr/>
          <p:nvPr/>
        </p:nvSpPr>
        <p:spPr>
          <a:xfrm>
            <a:off x="4334256" y="411480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1A1A"/>
                </a:solidFill>
              </a:rPr>
              <a:t>0.6768</a:t>
            </a:r>
            <a:endParaRPr lang="en-US" sz="800" dirty="0"/>
          </a:p>
        </p:txBody>
      </p:sp>
      <p:sp>
        <p:nvSpPr>
          <p:cNvPr id="238" name="Shape 236"/>
          <p:cNvSpPr/>
          <p:nvPr/>
        </p:nvSpPr>
        <p:spPr>
          <a:xfrm>
            <a:off x="5760720" y="4114800"/>
            <a:ext cx="1408176" cy="164592"/>
          </a:xfrm>
          <a:prstGeom prst="rect">
            <a:avLst/>
          </a:prstGeom>
          <a:solidFill>
            <a:srgbClr val="FDECEA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9" name="Text 237"/>
          <p:cNvSpPr/>
          <p:nvPr/>
        </p:nvSpPr>
        <p:spPr>
          <a:xfrm>
            <a:off x="5760720" y="411480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1A1A"/>
                </a:solidFill>
              </a:rPr>
              <a:t>0.6471</a:t>
            </a:r>
            <a:endParaRPr lang="en-US" sz="800" dirty="0"/>
          </a:p>
        </p:txBody>
      </p:sp>
      <p:sp>
        <p:nvSpPr>
          <p:cNvPr id="240" name="Shape 238"/>
          <p:cNvSpPr/>
          <p:nvPr/>
        </p:nvSpPr>
        <p:spPr>
          <a:xfrm>
            <a:off x="7187184" y="4114800"/>
            <a:ext cx="1755648" cy="164592"/>
          </a:xfrm>
          <a:prstGeom prst="rect">
            <a:avLst/>
          </a:prstGeom>
          <a:solidFill>
            <a:srgbClr val="FFF3E0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1" name="Text 239"/>
          <p:cNvSpPr/>
          <p:nvPr/>
        </p:nvSpPr>
        <p:spPr>
          <a:xfrm>
            <a:off x="7223760" y="4114800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07B39"/>
                </a:solidFill>
              </a:rPr>
              <a:t>6,259 | ★ Peak ADOL 0.8647</a:t>
            </a:r>
            <a:endParaRPr lang="en-US" sz="750" dirty="0"/>
          </a:p>
        </p:txBody>
      </p:sp>
      <p:sp>
        <p:nvSpPr>
          <p:cNvPr id="242" name="Shape 240"/>
          <p:cNvSpPr/>
          <p:nvPr/>
        </p:nvSpPr>
        <p:spPr>
          <a:xfrm>
            <a:off x="804672" y="4297680"/>
            <a:ext cx="658368" cy="1645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3" name="Text 241"/>
          <p:cNvSpPr/>
          <p:nvPr/>
        </p:nvSpPr>
        <p:spPr>
          <a:xfrm>
            <a:off x="804672" y="4297680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C5E"/>
                </a:solidFill>
              </a:rPr>
              <a:t>Q2</a:t>
            </a:r>
            <a:endParaRPr lang="en-US" sz="800" dirty="0"/>
          </a:p>
        </p:txBody>
      </p:sp>
      <p:sp>
        <p:nvSpPr>
          <p:cNvPr id="244" name="Shape 242"/>
          <p:cNvSpPr/>
          <p:nvPr/>
        </p:nvSpPr>
        <p:spPr>
          <a:xfrm>
            <a:off x="1481328" y="4297680"/>
            <a:ext cx="1408176" cy="164592"/>
          </a:xfrm>
          <a:prstGeom prst="rect">
            <a:avLst/>
          </a:prstGeom>
          <a:solidFill>
            <a:srgbClr val="D6E8F7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5" name="Text 243"/>
          <p:cNvSpPr/>
          <p:nvPr/>
        </p:nvSpPr>
        <p:spPr>
          <a:xfrm>
            <a:off x="1481328" y="429768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4F8B"/>
                </a:solidFill>
              </a:rPr>
              <a:t>0.8452</a:t>
            </a:r>
            <a:endParaRPr lang="en-US" sz="850" dirty="0"/>
          </a:p>
        </p:txBody>
      </p:sp>
      <p:sp>
        <p:nvSpPr>
          <p:cNvPr id="246" name="Shape 244"/>
          <p:cNvSpPr/>
          <p:nvPr/>
        </p:nvSpPr>
        <p:spPr>
          <a:xfrm>
            <a:off x="2907792" y="4297680"/>
            <a:ext cx="1408176" cy="164592"/>
          </a:xfrm>
          <a:prstGeom prst="rect">
            <a:avLst/>
          </a:prstGeom>
          <a:solidFill>
            <a:srgbClr val="D6F0E8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7" name="Text 245"/>
          <p:cNvSpPr/>
          <p:nvPr/>
        </p:nvSpPr>
        <p:spPr>
          <a:xfrm>
            <a:off x="2907792" y="429768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6E56"/>
                </a:solidFill>
              </a:rPr>
              <a:t>0.8043</a:t>
            </a:r>
            <a:endParaRPr lang="en-US" sz="800" dirty="0"/>
          </a:p>
        </p:txBody>
      </p:sp>
      <p:sp>
        <p:nvSpPr>
          <p:cNvPr id="248" name="Shape 246"/>
          <p:cNvSpPr/>
          <p:nvPr/>
        </p:nvSpPr>
        <p:spPr>
          <a:xfrm>
            <a:off x="4334256" y="429768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9" name="Text 247"/>
          <p:cNvSpPr/>
          <p:nvPr/>
        </p:nvSpPr>
        <p:spPr>
          <a:xfrm>
            <a:off x="4334256" y="429768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0.6964</a:t>
            </a:r>
            <a:endParaRPr lang="en-US" sz="800" dirty="0"/>
          </a:p>
        </p:txBody>
      </p:sp>
      <p:sp>
        <p:nvSpPr>
          <p:cNvPr id="250" name="Shape 248"/>
          <p:cNvSpPr/>
          <p:nvPr/>
        </p:nvSpPr>
        <p:spPr>
          <a:xfrm>
            <a:off x="5760720" y="4297680"/>
            <a:ext cx="1408176" cy="164592"/>
          </a:xfrm>
          <a:prstGeom prst="rect">
            <a:avLst/>
          </a:prstGeom>
          <a:solidFill>
            <a:srgbClr val="FDECEA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1" name="Text 249"/>
          <p:cNvSpPr/>
          <p:nvPr/>
        </p:nvSpPr>
        <p:spPr>
          <a:xfrm>
            <a:off x="5760720" y="429768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1A1A"/>
                </a:solidFill>
              </a:rPr>
              <a:t>0.6501</a:t>
            </a:r>
            <a:endParaRPr lang="en-US" sz="800" dirty="0"/>
          </a:p>
        </p:txBody>
      </p:sp>
      <p:sp>
        <p:nvSpPr>
          <p:cNvPr id="252" name="Shape 250"/>
          <p:cNvSpPr/>
          <p:nvPr/>
        </p:nvSpPr>
        <p:spPr>
          <a:xfrm>
            <a:off x="7187184" y="4297680"/>
            <a:ext cx="1755648" cy="1645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3" name="Text 251"/>
          <p:cNvSpPr/>
          <p:nvPr/>
        </p:nvSpPr>
        <p:spPr>
          <a:xfrm>
            <a:off x="7223760" y="4297680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E82"/>
                </a:solidFill>
              </a:rPr>
              <a:t>5,990 | → Stable</a:t>
            </a:r>
            <a:endParaRPr lang="en-US" sz="750" dirty="0"/>
          </a:p>
        </p:txBody>
      </p:sp>
      <p:sp>
        <p:nvSpPr>
          <p:cNvPr id="254" name="Shape 252"/>
          <p:cNvSpPr/>
          <p:nvPr/>
        </p:nvSpPr>
        <p:spPr>
          <a:xfrm>
            <a:off x="804672" y="4480560"/>
            <a:ext cx="658368" cy="164592"/>
          </a:xfrm>
          <a:prstGeom prst="rect">
            <a:avLst/>
          </a:prstGeom>
          <a:solidFill>
            <a:srgbClr val="F8FAFC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5" name="Text 253"/>
          <p:cNvSpPr/>
          <p:nvPr/>
        </p:nvSpPr>
        <p:spPr>
          <a:xfrm>
            <a:off x="804672" y="4480560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C5E"/>
                </a:solidFill>
              </a:rPr>
              <a:t>Q3</a:t>
            </a:r>
            <a:endParaRPr lang="en-US" sz="800" dirty="0"/>
          </a:p>
        </p:txBody>
      </p:sp>
      <p:sp>
        <p:nvSpPr>
          <p:cNvPr id="256" name="Shape 254"/>
          <p:cNvSpPr/>
          <p:nvPr/>
        </p:nvSpPr>
        <p:spPr>
          <a:xfrm>
            <a:off x="1481328" y="4480560"/>
            <a:ext cx="1408176" cy="164592"/>
          </a:xfrm>
          <a:prstGeom prst="rect">
            <a:avLst/>
          </a:prstGeom>
          <a:solidFill>
            <a:srgbClr val="D6E8F7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7" name="Text 255"/>
          <p:cNvSpPr/>
          <p:nvPr/>
        </p:nvSpPr>
        <p:spPr>
          <a:xfrm>
            <a:off x="1481328" y="448056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4F8B"/>
                </a:solidFill>
              </a:rPr>
              <a:t>0.8497</a:t>
            </a:r>
            <a:endParaRPr lang="en-US" sz="850" dirty="0"/>
          </a:p>
        </p:txBody>
      </p:sp>
      <p:sp>
        <p:nvSpPr>
          <p:cNvPr id="258" name="Shape 256"/>
          <p:cNvSpPr/>
          <p:nvPr/>
        </p:nvSpPr>
        <p:spPr>
          <a:xfrm>
            <a:off x="2907792" y="4480560"/>
            <a:ext cx="1408176" cy="164592"/>
          </a:xfrm>
          <a:prstGeom prst="rect">
            <a:avLst/>
          </a:prstGeom>
          <a:solidFill>
            <a:srgbClr val="D6F0E8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9" name="Text 257"/>
          <p:cNvSpPr/>
          <p:nvPr/>
        </p:nvSpPr>
        <p:spPr>
          <a:xfrm>
            <a:off x="2907792" y="448056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6E56"/>
                </a:solidFill>
              </a:rPr>
              <a:t>0.8151</a:t>
            </a:r>
            <a:endParaRPr lang="en-US" sz="800" dirty="0"/>
          </a:p>
        </p:txBody>
      </p:sp>
      <p:sp>
        <p:nvSpPr>
          <p:cNvPr id="260" name="Shape 258"/>
          <p:cNvSpPr/>
          <p:nvPr/>
        </p:nvSpPr>
        <p:spPr>
          <a:xfrm>
            <a:off x="4334256" y="448056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1" name="Text 259"/>
          <p:cNvSpPr/>
          <p:nvPr/>
        </p:nvSpPr>
        <p:spPr>
          <a:xfrm>
            <a:off x="4334256" y="448056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0.6915</a:t>
            </a:r>
            <a:endParaRPr lang="en-US" sz="800" dirty="0"/>
          </a:p>
        </p:txBody>
      </p:sp>
      <p:sp>
        <p:nvSpPr>
          <p:cNvPr id="262" name="Shape 260"/>
          <p:cNvSpPr/>
          <p:nvPr/>
        </p:nvSpPr>
        <p:spPr>
          <a:xfrm>
            <a:off x="5760720" y="448056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3" name="Text 261"/>
          <p:cNvSpPr/>
          <p:nvPr/>
        </p:nvSpPr>
        <p:spPr>
          <a:xfrm>
            <a:off x="5760720" y="448056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0.6823</a:t>
            </a:r>
            <a:endParaRPr lang="en-US" sz="800" dirty="0"/>
          </a:p>
        </p:txBody>
      </p:sp>
      <p:sp>
        <p:nvSpPr>
          <p:cNvPr id="264" name="Shape 262"/>
          <p:cNvSpPr/>
          <p:nvPr/>
        </p:nvSpPr>
        <p:spPr>
          <a:xfrm>
            <a:off x="7187184" y="4480560"/>
            <a:ext cx="1755648" cy="164592"/>
          </a:xfrm>
          <a:prstGeom prst="rect">
            <a:avLst/>
          </a:prstGeom>
          <a:solidFill>
            <a:srgbClr val="F8FAFC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5" name="Text 263"/>
          <p:cNvSpPr/>
          <p:nvPr/>
        </p:nvSpPr>
        <p:spPr>
          <a:xfrm>
            <a:off x="7223760" y="4480560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E82"/>
                </a:solidFill>
              </a:rPr>
              <a:t>6,512 | ↑ Most signals 2025</a:t>
            </a:r>
            <a:endParaRPr lang="en-US" sz="750" dirty="0"/>
          </a:p>
        </p:txBody>
      </p:sp>
      <p:sp>
        <p:nvSpPr>
          <p:cNvPr id="266" name="Shape 264"/>
          <p:cNvSpPr/>
          <p:nvPr/>
        </p:nvSpPr>
        <p:spPr>
          <a:xfrm>
            <a:off x="804672" y="4663440"/>
            <a:ext cx="658368" cy="164592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7" name="Text 265"/>
          <p:cNvSpPr/>
          <p:nvPr/>
        </p:nvSpPr>
        <p:spPr>
          <a:xfrm>
            <a:off x="804672" y="4663440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C5E"/>
                </a:solidFill>
              </a:rPr>
              <a:t>Q4</a:t>
            </a:r>
            <a:endParaRPr lang="en-US" sz="800" dirty="0"/>
          </a:p>
        </p:txBody>
      </p:sp>
      <p:sp>
        <p:nvSpPr>
          <p:cNvPr id="268" name="Shape 266"/>
          <p:cNvSpPr/>
          <p:nvPr/>
        </p:nvSpPr>
        <p:spPr>
          <a:xfrm>
            <a:off x="1481328" y="4663440"/>
            <a:ext cx="1408176" cy="164592"/>
          </a:xfrm>
          <a:prstGeom prst="rect">
            <a:avLst/>
          </a:prstGeom>
          <a:solidFill>
            <a:srgbClr val="D6E8F7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9" name="Text 267"/>
          <p:cNvSpPr/>
          <p:nvPr/>
        </p:nvSpPr>
        <p:spPr>
          <a:xfrm>
            <a:off x="1481328" y="466344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4F8B"/>
                </a:solidFill>
              </a:rPr>
              <a:t>0.8588</a:t>
            </a:r>
            <a:endParaRPr lang="en-US" sz="850" dirty="0"/>
          </a:p>
        </p:txBody>
      </p:sp>
      <p:sp>
        <p:nvSpPr>
          <p:cNvPr id="270" name="Shape 268"/>
          <p:cNvSpPr/>
          <p:nvPr/>
        </p:nvSpPr>
        <p:spPr>
          <a:xfrm>
            <a:off x="2907792" y="4663440"/>
            <a:ext cx="1408176" cy="164592"/>
          </a:xfrm>
          <a:prstGeom prst="rect">
            <a:avLst/>
          </a:prstGeom>
          <a:solidFill>
            <a:srgbClr val="D6F0E8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1" name="Text 269"/>
          <p:cNvSpPr/>
          <p:nvPr/>
        </p:nvSpPr>
        <p:spPr>
          <a:xfrm>
            <a:off x="2907792" y="466344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6E56"/>
                </a:solidFill>
              </a:rPr>
              <a:t>0.8244</a:t>
            </a:r>
            <a:endParaRPr lang="en-US" sz="800" dirty="0"/>
          </a:p>
        </p:txBody>
      </p:sp>
      <p:sp>
        <p:nvSpPr>
          <p:cNvPr id="272" name="Shape 270"/>
          <p:cNvSpPr/>
          <p:nvPr/>
        </p:nvSpPr>
        <p:spPr>
          <a:xfrm>
            <a:off x="4334256" y="466344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3" name="Text 271"/>
          <p:cNvSpPr/>
          <p:nvPr/>
        </p:nvSpPr>
        <p:spPr>
          <a:xfrm>
            <a:off x="4334256" y="466344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0.7136</a:t>
            </a:r>
            <a:endParaRPr lang="en-US" sz="800" dirty="0"/>
          </a:p>
        </p:txBody>
      </p:sp>
      <p:sp>
        <p:nvSpPr>
          <p:cNvPr id="274" name="Shape 272"/>
          <p:cNvSpPr/>
          <p:nvPr/>
        </p:nvSpPr>
        <p:spPr>
          <a:xfrm>
            <a:off x="5760720" y="4663440"/>
            <a:ext cx="1408176" cy="164592"/>
          </a:xfrm>
          <a:prstGeom prst="rect">
            <a:avLst/>
          </a:prstGeom>
          <a:solidFill>
            <a:srgbClr val="FEF0E4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5" name="Text 273"/>
          <p:cNvSpPr/>
          <p:nvPr/>
        </p:nvSpPr>
        <p:spPr>
          <a:xfrm>
            <a:off x="5760720" y="4663440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4510"/>
                </a:solidFill>
              </a:rPr>
              <a:t>0.6818</a:t>
            </a:r>
            <a:endParaRPr lang="en-US" sz="800" dirty="0"/>
          </a:p>
        </p:txBody>
      </p:sp>
      <p:sp>
        <p:nvSpPr>
          <p:cNvPr id="276" name="Shape 274"/>
          <p:cNvSpPr/>
          <p:nvPr/>
        </p:nvSpPr>
        <p:spPr>
          <a:xfrm>
            <a:off x="7187184" y="4663440"/>
            <a:ext cx="1755648" cy="164592"/>
          </a:xfrm>
          <a:prstGeom prst="rect">
            <a:avLst/>
          </a:prstGeom>
          <a:solidFill>
            <a:srgbClr val="FFF3E0"/>
          </a:solidFill>
          <a:ln w="381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7" name="Text 275"/>
          <p:cNvSpPr/>
          <p:nvPr/>
        </p:nvSpPr>
        <p:spPr>
          <a:xfrm>
            <a:off x="7223760" y="4663440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07B39"/>
                </a:solidFill>
              </a:rPr>
              <a:t>6,484 | ★ Child peaks 0.82</a:t>
            </a:r>
            <a:endParaRPr lang="en-US" sz="750" dirty="0"/>
          </a:p>
        </p:txBody>
      </p:sp>
      <p:sp>
        <p:nvSpPr>
          <p:cNvPr id="278" name="Shape 276"/>
          <p:cNvSpPr/>
          <p:nvPr/>
        </p:nvSpPr>
        <p:spPr>
          <a:xfrm>
            <a:off x="256032" y="4864608"/>
            <a:ext cx="8686800" cy="25603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9" name="Text 277"/>
          <p:cNvSpPr/>
          <p:nvPr/>
        </p:nvSpPr>
        <p:spPr>
          <a:xfrm>
            <a:off x="320040" y="4864608"/>
            <a:ext cx="8549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5-yr avg: ADOLESCENT 0.8425 ★ | CHILD 0.7970 | INFANT 0.6799 | NEONATE 0.6774   |   Total: 80 models, 100% success, 36,206 signals detected across all quarters</a:t>
            </a:r>
            <a:endParaRPr lang="en-US" sz="850" dirty="0"/>
          </a:p>
        </p:txBody>
      </p:sp>
      <p:sp>
        <p:nvSpPr>
          <p:cNvPr id="280" name="Shape 27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1" name="Text 279"/>
          <p:cNvSpPr/>
          <p:nvPr/>
        </p:nvSpPr>
        <p:spPr>
          <a:xfrm>
            <a:off x="182880" y="4965192"/>
            <a:ext cx="877824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E82"/>
                </a:solidFill>
              </a:rPr>
              <a:t>PulseTech (ANC-031) | MIT Vishwaprayag University, Solapur | FAERS 2021–2025 Pediatric ADR Research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A3 — Why 4 Signal Detection Metrics  —  Role, Formula, Evidence &amp; FDA Benefit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613648" y="91440"/>
            <a:ext cx="438912" cy="320040"/>
          </a:xfrm>
          <a:prstGeom prst="ellipse">
            <a:avLst/>
          </a:prstGeom>
          <a:solidFill>
            <a:srgbClr val="1E7A8C"/>
          </a:solidFill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13648" y="9144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E82"/>
                </a:solidFill>
              </a:rPr>
              <a:t>PulseTech (ANC-031) | MIT Vishwaprayag University, Solapur | FAERS 2021–2025 Pediatric ADR Research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594360"/>
            <a:ext cx="4297680" cy="2029968"/>
          </a:xfrm>
          <a:prstGeom prst="rect">
            <a:avLst/>
          </a:prstGeom>
          <a:solidFill>
            <a:srgbClr val="D6E8F7"/>
          </a:solidFill>
          <a:ln w="12700">
            <a:solidFill>
              <a:srgbClr val="0D4F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8600" y="594360"/>
            <a:ext cx="4297680" cy="365760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01752" y="594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69494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Proportional Reporting Ratio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92424" y="640080"/>
            <a:ext cx="1078992" cy="25603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74136" y="649224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tx2"/>
                </a:solidFill>
              </a:rPr>
              <a:t>EMA</a:t>
            </a:r>
            <a:endParaRPr lang="en-US" sz="750" dirty="0">
              <a:solidFill>
                <a:schemeClr val="tx2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1014984"/>
            <a:ext cx="822960" cy="274320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0040" y="101498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Formula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161288" y="1014984"/>
            <a:ext cx="3291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197864" y="1014984"/>
            <a:ext cx="3236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(n11/n1×) ÷ (n01/n0×)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20040" y="1325880"/>
            <a:ext cx="822960" cy="274320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0040" y="1325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Signal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161288" y="1325880"/>
            <a:ext cx="3291840" cy="274320"/>
          </a:xfrm>
          <a:prstGeom prst="rect">
            <a:avLst/>
          </a:prstGeom>
          <a:solidFill>
            <a:srgbClr val="D6E8F7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197864" y="1325880"/>
            <a:ext cx="3236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PRR ≥ 2  AND  χ² ≥ 4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20040" y="1636776"/>
            <a:ext cx="822960" cy="274320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" y="163677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Role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161288" y="1636776"/>
            <a:ext cx="3291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197864" y="1636776"/>
            <a:ext cx="3236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Frequentist anchor. Answers: Is this drug reported with this ADR more than all other drugs combined?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20040" y="1947672"/>
            <a:ext cx="822960" cy="274320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0040" y="19476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Proof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161288" y="1947672"/>
            <a:ext cx="3291840" cy="274320"/>
          </a:xfrm>
          <a:prstGeom prst="rect">
            <a:avLst/>
          </a:prstGeom>
          <a:solidFill>
            <a:srgbClr val="D6E8F7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197864" y="1947672"/>
            <a:ext cx="3236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EMA standard since 2001 (Evans et al.). Simple, transparent, and interpretable. Used in every FAERS signal report.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20040" y="2258568"/>
            <a:ext cx="822960" cy="274320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20040" y="22585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Benefit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161288" y="2258568"/>
            <a:ext cx="3291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197864" y="2258568"/>
            <a:ext cx="3236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FDA regulators can independently verify any PRR calculation from raw FAERS row counts. No black-box math.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690872" y="594360"/>
            <a:ext cx="4297680" cy="2029968"/>
          </a:xfrm>
          <a:prstGeom prst="rect">
            <a:avLst/>
          </a:prstGeom>
          <a:solidFill>
            <a:srgbClr val="D6F0E8"/>
          </a:solidFill>
          <a:ln w="12700">
            <a:solidFill>
              <a:srgbClr val="0F6E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690872" y="594360"/>
            <a:ext cx="4297680" cy="3657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764024" y="594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ROR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40680" y="69037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Reporting Odds Ratio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836408" y="649224"/>
            <a:ext cx="1078992" cy="25603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836408" y="649224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tx2"/>
                </a:solidFill>
              </a:rPr>
              <a:t>Literature standard</a:t>
            </a:r>
            <a:endParaRPr lang="en-US" sz="750" dirty="0">
              <a:solidFill>
                <a:schemeClr val="tx2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782312" y="1014984"/>
            <a:ext cx="822960" cy="2743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782312" y="101498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Formula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623560" y="1014984"/>
            <a:ext cx="3291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660136" y="1014984"/>
            <a:ext cx="3236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(n11 × n00) ÷ (n10 × n01)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782312" y="1325880"/>
            <a:ext cx="822960" cy="2743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782312" y="1325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Signal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623560" y="1325880"/>
            <a:ext cx="3291840" cy="274320"/>
          </a:xfrm>
          <a:prstGeom prst="rect">
            <a:avLst/>
          </a:prstGeom>
          <a:solidFill>
            <a:srgbClr val="D6F0E8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660136" y="1325880"/>
            <a:ext cx="3236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ROR ≥ 2  AND  95% CI lower &gt; 1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782312" y="1636776"/>
            <a:ext cx="822960" cy="2743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782312" y="163677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Role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623560" y="1636776"/>
            <a:ext cx="3291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5660136" y="1636776"/>
            <a:ext cx="3236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Maps directly to clinical odds ratio used in epidemiology. Cross-validates PRR with confidence interval.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782312" y="1947672"/>
            <a:ext cx="822960" cy="2743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782312" y="19476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Proof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623560" y="1947672"/>
            <a:ext cx="3291840" cy="274320"/>
          </a:xfrm>
          <a:prstGeom prst="rect">
            <a:avLst/>
          </a:prstGeom>
          <a:solidFill>
            <a:srgbClr val="D6F0E8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5660136" y="1947672"/>
            <a:ext cx="3236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ROR has highest sensitivity of the 4 methods. Catches signals missed by conservative methods (IC, EBGM).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782312" y="2258568"/>
            <a:ext cx="822960" cy="2743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782312" y="22585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Benefit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623560" y="2258568"/>
            <a:ext cx="3291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5660136" y="2258568"/>
            <a:ext cx="3236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Allows clinical translation: 'Patients on Drug X are ROR times more likely to report ADR Y vs all other drugs.'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28600" y="2770632"/>
            <a:ext cx="4297680" cy="2029968"/>
          </a:xfrm>
          <a:prstGeom prst="rect">
            <a:avLst/>
          </a:prstGeom>
          <a:solidFill>
            <a:srgbClr val="FEF0E4"/>
          </a:solidFill>
          <a:ln w="12700">
            <a:solidFill>
              <a:srgbClr val="8A451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228600" y="2770632"/>
            <a:ext cx="4297680" cy="365760"/>
          </a:xfrm>
          <a:prstGeom prst="rect">
            <a:avLst/>
          </a:prstGeom>
          <a:solidFill>
            <a:srgbClr val="8A4510"/>
          </a:solidFill>
          <a:ln w="12700">
            <a:solidFill>
              <a:srgbClr val="8A45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301752" y="277063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IC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978408" y="28529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Information Component  (BCPNN)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374136" y="2825496"/>
            <a:ext cx="1078992" cy="25603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374136" y="2825496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tx2"/>
                </a:solidFill>
              </a:rPr>
              <a:t>WHO-UMC (VigiBase</a:t>
            </a:r>
            <a:r>
              <a:rPr lang="en-US" sz="750" b="1" dirty="0">
                <a:solidFill>
                  <a:srgbClr val="FFFFFF"/>
                </a:solidFill>
              </a:rPr>
              <a:t>)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20040" y="3191256"/>
            <a:ext cx="822960" cy="274320"/>
          </a:xfrm>
          <a:prstGeom prst="rect">
            <a:avLst/>
          </a:prstGeom>
          <a:solidFill>
            <a:srgbClr val="8A4510"/>
          </a:solidFill>
          <a:ln w="12700">
            <a:solidFill>
              <a:srgbClr val="8A45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320040" y="31912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Formula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1161288" y="3191256"/>
            <a:ext cx="3291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1197864" y="3191256"/>
            <a:ext cx="3236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log₂(n11 / E)  |  E = n1× × n×1 / n××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20040" y="3502152"/>
            <a:ext cx="822960" cy="274320"/>
          </a:xfrm>
          <a:prstGeom prst="rect">
            <a:avLst/>
          </a:prstGeom>
          <a:solidFill>
            <a:srgbClr val="8A4510"/>
          </a:solidFill>
          <a:ln w="12700">
            <a:solidFill>
              <a:srgbClr val="8A45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20040" y="35021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Signal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1161288" y="3502152"/>
            <a:ext cx="3291840" cy="274320"/>
          </a:xfrm>
          <a:prstGeom prst="rect">
            <a:avLst/>
          </a:prstGeom>
          <a:solidFill>
            <a:srgbClr val="FEF0E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1197864" y="3502152"/>
            <a:ext cx="3236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IC025 (Bayesian lower bound) &gt; 0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320040" y="3813048"/>
            <a:ext cx="822960" cy="274320"/>
          </a:xfrm>
          <a:prstGeom prst="rect">
            <a:avLst/>
          </a:prstGeom>
          <a:solidFill>
            <a:srgbClr val="8A4510"/>
          </a:solidFill>
          <a:ln w="12700">
            <a:solidFill>
              <a:srgbClr val="8A45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320040" y="38130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Role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1161288" y="3813048"/>
            <a:ext cx="3291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1197864" y="3813048"/>
            <a:ext cx="3236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Bayesian mutual information measure. Detects statistically unexpected co-occurrence using WHO global standard.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320040" y="4123944"/>
            <a:ext cx="822960" cy="274320"/>
          </a:xfrm>
          <a:prstGeom prst="rect">
            <a:avLst/>
          </a:prstGeom>
          <a:solidFill>
            <a:srgbClr val="8A4510"/>
          </a:solidFill>
          <a:ln w="12700">
            <a:solidFill>
              <a:srgbClr val="8A45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320040" y="412394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Proof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1161288" y="4123944"/>
            <a:ext cx="3291840" cy="274320"/>
          </a:xfrm>
          <a:prstGeom prst="rect">
            <a:avLst/>
          </a:prstGeom>
          <a:solidFill>
            <a:srgbClr val="FEF0E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1197864" y="4123944"/>
            <a:ext cx="3236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Validated in WHO VigiBase covering 130+ national pharmacovigilance databases. Adds global alignment.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20040" y="4425696"/>
            <a:ext cx="822960" cy="237744"/>
          </a:xfrm>
          <a:prstGeom prst="rect">
            <a:avLst/>
          </a:prstGeom>
          <a:solidFill>
            <a:srgbClr val="8A4510"/>
          </a:solidFill>
          <a:ln w="12700">
            <a:solidFill>
              <a:srgbClr val="8A45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320040" y="4434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Benefit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1161288" y="4434840"/>
            <a:ext cx="3291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1197864" y="4334256"/>
            <a:ext cx="323697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Enables direct comparison with WHO-UMC published global signals. PulseTech signals map to international databases.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4690872" y="2770632"/>
            <a:ext cx="4297680" cy="2029968"/>
          </a:xfrm>
          <a:prstGeom prst="rect">
            <a:avLst/>
          </a:prstGeom>
          <a:solidFill>
            <a:srgbClr val="EDE8F8"/>
          </a:solidFill>
          <a:ln w="12700">
            <a:solidFill>
              <a:srgbClr val="6B3F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4690872" y="2770632"/>
            <a:ext cx="4297680" cy="3657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4764024" y="2903220"/>
            <a:ext cx="640080" cy="594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EBGM</a:t>
            </a:r>
            <a:endParaRPr lang="en-US" sz="1400" dirty="0"/>
          </a:p>
        </p:txBody>
      </p:sp>
      <p:sp>
        <p:nvSpPr>
          <p:cNvPr id="89" name="Text 87"/>
          <p:cNvSpPr/>
          <p:nvPr/>
        </p:nvSpPr>
        <p:spPr>
          <a:xfrm>
            <a:off x="5440680" y="284835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Empirical Bayes Geometric Mean (MGPS)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7836408" y="2825496"/>
            <a:ext cx="1078992" cy="25603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7836408" y="2825496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tx2"/>
                </a:solidFill>
              </a:rPr>
              <a:t>FDA (official MGPS</a:t>
            </a:r>
            <a:r>
              <a:rPr lang="en-US" sz="750" b="1" dirty="0">
                <a:solidFill>
                  <a:srgbClr val="FFFFFF"/>
                </a:solidFill>
              </a:rPr>
              <a:t>)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4782312" y="3191256"/>
            <a:ext cx="822960" cy="2743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4782312" y="31912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Formula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5623560" y="3191256"/>
            <a:ext cx="3291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5660136" y="3191256"/>
            <a:ext cx="3236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GPS: α₁=0.2, β₁=0.06, w=0.1  |  EB05 = EBGM × exp(−1.645×σ)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4782312" y="3502152"/>
            <a:ext cx="822960" cy="2743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4782312" y="35021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Signal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5623560" y="3502152"/>
            <a:ext cx="3291840" cy="205740"/>
          </a:xfrm>
          <a:prstGeom prst="rect">
            <a:avLst/>
          </a:prstGeom>
          <a:solidFill>
            <a:srgbClr val="EDE8F8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5660136" y="3502152"/>
            <a:ext cx="3236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EB05 &gt; 2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4782312" y="3813048"/>
            <a:ext cx="822960" cy="2743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4782312" y="38130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Role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5623560" y="3813048"/>
            <a:ext cx="3291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101"/>
          <p:cNvSpPr/>
          <p:nvPr/>
        </p:nvSpPr>
        <p:spPr>
          <a:xfrm>
            <a:off x="5660136" y="3776472"/>
            <a:ext cx="3236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FDA's own MGPS algorithm. Bayesian 'shrinkage' pulls scores toward 1.0 until sample size is large enough to prove harm.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4782312" y="4123944"/>
            <a:ext cx="822960" cy="2743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Text 103"/>
          <p:cNvSpPr/>
          <p:nvPr/>
        </p:nvSpPr>
        <p:spPr>
          <a:xfrm>
            <a:off x="4782312" y="412394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Proof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5623560" y="4123944"/>
            <a:ext cx="3291840" cy="274320"/>
          </a:xfrm>
          <a:prstGeom prst="rect">
            <a:avLst/>
          </a:prstGeom>
          <a:solidFill>
            <a:srgbClr val="EDE8F8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5660136" y="4087368"/>
            <a:ext cx="323697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Concrete: Rare drug, 2 patients both get rash → PRR = 50.0 (false alarm!). EBGM shrinks score to ~1.2 — not enough evidence yet. If N grows to 300, EBGM rises to 8.4 — confirmed signal. (DuMouchel 1999)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4782312" y="4434840"/>
            <a:ext cx="822960" cy="2743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4782312" y="44348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Benefit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5623560" y="4434840"/>
            <a:ext cx="3291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5660136" y="4494276"/>
            <a:ext cx="3236976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</a:rPr>
              <a:t>Any signal with EB05 &gt; 2 meets the FDA's own internal threshold. Strongest justification for regulatory action. Eliminates false positives caused by rare outliers.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228600" y="4663440"/>
            <a:ext cx="8915400" cy="25603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320040" y="4663440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Combined 4-metric confirmation: 33,722 of 36,206 signals verified by ≥2 methods  |  False positive rate drops from ~25% (single metric) to &lt;5% (≥2 metrics)  |  Highest-confidence signals flagged by all 4 simultaneously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Text 113"/>
          <p:cNvSpPr/>
          <p:nvPr/>
        </p:nvSpPr>
        <p:spPr>
          <a:xfrm>
            <a:off x="182880" y="4965192"/>
            <a:ext cx="877824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E82"/>
                </a:solidFill>
              </a:rPr>
              <a:t>PulseTech (ANC-031) | MIT Vishwaprayag University, Solapur | FAERS 2021–2025 Pediatric ADR Research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A4 — Defence Proof — Longitudinal Fragmentation &amp; is_superseded Innovation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613648" y="91440"/>
            <a:ext cx="438912" cy="320040"/>
          </a:xfrm>
          <a:prstGeom prst="ellipse">
            <a:avLst/>
          </a:prstGeom>
          <a:solidFill>
            <a:srgbClr val="1E7A8C"/>
          </a:solidFill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13648" y="9144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E82"/>
                </a:solidFill>
              </a:rPr>
              <a:t>PulseTech (ANC-031) | MIT Vishwaprayag University, Solapur | FAERS 2021–2025 Pediatric ADR Research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594360"/>
            <a:ext cx="8686800" cy="420624"/>
          </a:xfrm>
          <a:prstGeom prst="rect">
            <a:avLst/>
          </a:prstGeom>
          <a:solidFill>
            <a:srgbClr val="FFF3E0"/>
          </a:solidFill>
          <a:ln w="1524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594360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3800"/>
                </a:solidFill>
              </a:rPr>
              <a:t>⚠  THE PROBLEM: Standard tools count one patient as 3 separate patients — inflating drug danger by 300%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097280"/>
            <a:ext cx="4937760" cy="34747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28600" y="109728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Real Example — CaseID: 6125174  (same patient, 3 FDA uploads)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444752"/>
            <a:ext cx="713232" cy="274320"/>
          </a:xfrm>
          <a:prstGeom prst="rect">
            <a:avLst/>
          </a:prstGeom>
          <a:solidFill>
            <a:srgbClr val="1E7A8C"/>
          </a:solidFill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28600" y="144475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Quarter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1832" y="1444752"/>
            <a:ext cx="841248" cy="274320"/>
          </a:xfrm>
          <a:prstGeom prst="rect">
            <a:avLst/>
          </a:prstGeom>
          <a:solidFill>
            <a:srgbClr val="1E7A8C"/>
          </a:solidFill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41832" y="144475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Primary ID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783080" y="1444752"/>
            <a:ext cx="749808" cy="274320"/>
          </a:xfrm>
          <a:prstGeom prst="rect">
            <a:avLst/>
          </a:prstGeom>
          <a:solidFill>
            <a:srgbClr val="1E7A8C"/>
          </a:solidFill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783080" y="144475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Type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32888" y="1444752"/>
            <a:ext cx="1188720" cy="274320"/>
          </a:xfrm>
          <a:prstGeom prst="rect">
            <a:avLst/>
          </a:prstGeom>
          <a:solidFill>
            <a:srgbClr val="1E7A8C"/>
          </a:solidFill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532888" y="14447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Content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21608" y="1444752"/>
            <a:ext cx="1389888" cy="274320"/>
          </a:xfrm>
          <a:prstGeom prst="rect">
            <a:avLst/>
          </a:prstGeom>
          <a:solidFill>
            <a:srgbClr val="1E7A8C"/>
          </a:solidFill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721608" y="1444752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PulseTech Status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8600" y="1719072"/>
            <a:ext cx="713232" cy="320040"/>
          </a:xfrm>
          <a:prstGeom prst="rect">
            <a:avLst/>
          </a:prstGeom>
          <a:solidFill>
            <a:srgbClr val="F8FAFC"/>
          </a:solidFill>
          <a:ln w="508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65176" y="1719072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2022 Q3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41832" y="1719072"/>
            <a:ext cx="841248" cy="320040"/>
          </a:xfrm>
          <a:prstGeom prst="rect">
            <a:avLst/>
          </a:prstGeom>
          <a:solidFill>
            <a:srgbClr val="F8FAFC"/>
          </a:solidFill>
          <a:ln w="508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78408" y="1719072"/>
            <a:ext cx="786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61251744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783080" y="1719072"/>
            <a:ext cx="749808" cy="320040"/>
          </a:xfrm>
          <a:prstGeom prst="rect">
            <a:avLst/>
          </a:prstGeom>
          <a:solidFill>
            <a:srgbClr val="F8FAFC"/>
          </a:solidFill>
          <a:ln w="508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819656" y="1719072"/>
            <a:ext cx="694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1st Report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32888" y="1719072"/>
            <a:ext cx="1188720" cy="320040"/>
          </a:xfrm>
          <a:prstGeom prst="rect">
            <a:avLst/>
          </a:prstGeom>
          <a:solidFill>
            <a:srgbClr val="F8FAFC"/>
          </a:solidFill>
          <a:ln w="508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569464" y="1719072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Drug + ADR filed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721608" y="1719072"/>
            <a:ext cx="1389888" cy="320040"/>
          </a:xfrm>
          <a:prstGeom prst="rect">
            <a:avLst/>
          </a:prstGeom>
          <a:solidFill>
            <a:srgbClr val="F8FAFC"/>
          </a:solidFill>
          <a:ln w="508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758184" y="1719072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6E82"/>
                </a:solidFill>
              </a:rPr>
              <a:t>is_superseded = FALSE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28600" y="2066544"/>
            <a:ext cx="713232" cy="320040"/>
          </a:xfrm>
          <a:prstGeom prst="rect">
            <a:avLst/>
          </a:prstGeom>
          <a:solidFill>
            <a:srgbClr val="FFF3E0"/>
          </a:solidFill>
          <a:ln w="508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65176" y="2066544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2023 Q1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41832" y="2066544"/>
            <a:ext cx="841248" cy="320040"/>
          </a:xfrm>
          <a:prstGeom prst="rect">
            <a:avLst/>
          </a:prstGeom>
          <a:solidFill>
            <a:srgbClr val="FFF3E0"/>
          </a:solidFill>
          <a:ln w="508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978408" y="2066544"/>
            <a:ext cx="786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61251746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783080" y="2066544"/>
            <a:ext cx="749808" cy="320040"/>
          </a:xfrm>
          <a:prstGeom prst="rect">
            <a:avLst/>
          </a:prstGeom>
          <a:solidFill>
            <a:srgbClr val="FFF3E0"/>
          </a:solidFill>
          <a:ln w="508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819656" y="2066544"/>
            <a:ext cx="694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Follow-Up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532888" y="2066544"/>
            <a:ext cx="1188720" cy="320040"/>
          </a:xfrm>
          <a:prstGeom prst="rect">
            <a:avLst/>
          </a:prstGeom>
          <a:solidFill>
            <a:srgbClr val="FFF3E0"/>
          </a:solidFill>
          <a:ln w="508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569464" y="2066544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Condition updated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721608" y="2066544"/>
            <a:ext cx="1389888" cy="320040"/>
          </a:xfrm>
          <a:prstGeom prst="rect">
            <a:avLst/>
          </a:prstGeom>
          <a:solidFill>
            <a:srgbClr val="FFF3E0"/>
          </a:solidFill>
          <a:ln w="508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58184" y="2066544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07B39"/>
                </a:solidFill>
              </a:rPr>
              <a:t>is_superseded = TRUE ✓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28600" y="2414016"/>
            <a:ext cx="713232" cy="320040"/>
          </a:xfrm>
          <a:prstGeom prst="rect">
            <a:avLst/>
          </a:prstGeom>
          <a:solidFill>
            <a:srgbClr val="D6F0E8"/>
          </a:solidFill>
          <a:ln w="508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265176" y="2414016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2025 Q2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941832" y="2414016"/>
            <a:ext cx="841248" cy="320040"/>
          </a:xfrm>
          <a:prstGeom prst="rect">
            <a:avLst/>
          </a:prstGeom>
          <a:solidFill>
            <a:srgbClr val="D6F0E8"/>
          </a:solidFill>
          <a:ln w="508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978408" y="2414016"/>
            <a:ext cx="786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61251747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783080" y="2414016"/>
            <a:ext cx="749808" cy="320040"/>
          </a:xfrm>
          <a:prstGeom prst="rect">
            <a:avLst/>
          </a:prstGeom>
          <a:solidFill>
            <a:srgbClr val="D6F0E8"/>
          </a:solidFill>
          <a:ln w="508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1819656" y="2414016"/>
            <a:ext cx="694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Final F/U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532888" y="2414016"/>
            <a:ext cx="1188720" cy="320040"/>
          </a:xfrm>
          <a:prstGeom prst="rect">
            <a:avLst/>
          </a:prstGeom>
          <a:solidFill>
            <a:srgbClr val="D6F0E8"/>
          </a:solidFill>
          <a:ln w="508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2569464" y="2414016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Outcome confirmed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721608" y="2414016"/>
            <a:ext cx="1389888" cy="320040"/>
          </a:xfrm>
          <a:prstGeom prst="rect">
            <a:avLst/>
          </a:prstGeom>
          <a:solidFill>
            <a:srgbClr val="D6F0E8"/>
          </a:solidFill>
          <a:ln w="508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3758184" y="2414016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F6E56"/>
                </a:solidFill>
              </a:rPr>
              <a:t>ACTIVE — is_superseded = FALSE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28600" y="2779776"/>
            <a:ext cx="4937760" cy="27432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20040" y="277977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A1A"/>
                </a:solidFill>
              </a:rPr>
              <a:t>Old tools: Count all 3 rows → n11 = 3 for this drug–ADR pair (WRONG — it is only 1 patient)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28600" y="3090672"/>
            <a:ext cx="4937760" cy="274320"/>
          </a:xfrm>
          <a:prstGeom prst="rect">
            <a:avLst/>
          </a:prstGeom>
          <a:solidFill>
            <a:srgbClr val="D6F0E8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320040" y="30906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6E56"/>
                </a:solidFill>
              </a:rPr>
              <a:t>PulseTech: is_superseded engine keeps only Primary ID 61251747 → n11 = 1 (CORRECT)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28600" y="3429000"/>
            <a:ext cx="2395728" cy="804672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228600" y="3429000"/>
            <a:ext cx="2395728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228600" y="342900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Old system PRR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20040" y="3721608"/>
            <a:ext cx="2231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1A1A"/>
                </a:solidFill>
              </a:rPr>
              <a:t>n11 = 3 (inflated)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1A1A"/>
                </a:solidFill>
              </a:rPr>
              <a:t>PRR = 6.2 → FALSE SIGNAL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1A1A"/>
                </a:solidFill>
              </a:rPr>
              <a:t>χ² = 12.4 → passes threshold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734056" y="3429000"/>
            <a:ext cx="2395728" cy="804672"/>
          </a:xfrm>
          <a:prstGeom prst="rect">
            <a:avLst/>
          </a:prstGeom>
          <a:solidFill>
            <a:srgbClr val="D6F0E8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2734056" y="3429000"/>
            <a:ext cx="2395728" cy="2743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2734056" y="342900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PulseTech PRR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2825496" y="3721608"/>
            <a:ext cx="2231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6E56"/>
                </a:solidFill>
              </a:rPr>
              <a:t>n11 = 1 (correct)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6E56"/>
                </a:solidFill>
              </a:rPr>
              <a:t>PRR = 2.1 → borderline (needs more)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6E56"/>
                </a:solidFill>
              </a:rPr>
              <a:t>χ² = 1.4 → does NOT pass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349240" y="1097280"/>
            <a:ext cx="3566160" cy="3136392"/>
          </a:xfrm>
          <a:prstGeom prst="rect">
            <a:avLst/>
          </a:prstGeom>
          <a:solidFill>
            <a:srgbClr val="F4F8FB"/>
          </a:solidFill>
          <a:ln w="1016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5349240" y="1097280"/>
            <a:ext cx="3566160" cy="34747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5349240" y="10972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is_superseded Pipeline — 5 Steps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440680" y="1517904"/>
            <a:ext cx="310896" cy="310896"/>
          </a:xfrm>
          <a:prstGeom prst="ellipse">
            <a:avLst/>
          </a:prstGeom>
          <a:solidFill>
            <a:srgbClr val="1E7A8C"/>
          </a:solidFill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5440680" y="15179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5806440" y="1517904"/>
            <a:ext cx="3035808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5852160" y="1517904"/>
            <a:ext cx="2962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C5E"/>
                </a:solidFill>
              </a:rPr>
              <a:t>Group by CASEID: </a:t>
            </a:r>
            <a:r>
              <a:rPr lang="en-US" sz="800" dirty="0">
                <a:solidFill>
                  <a:srgbClr val="1A1A2E"/>
                </a:solidFill>
              </a:rPr>
              <a:t>All reports for the same patient case are grouped together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440680" y="2048256"/>
            <a:ext cx="310896" cy="310896"/>
          </a:xfrm>
          <a:prstGeom prst="ellipse">
            <a:avLst/>
          </a:prstGeom>
          <a:solidFill>
            <a:srgbClr val="1E7A8C"/>
          </a:solidFill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5440680" y="20482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806440" y="2048256"/>
            <a:ext cx="3035808" cy="310896"/>
          </a:xfrm>
          <a:prstGeom prst="rect">
            <a:avLst/>
          </a:prstGeom>
          <a:solidFill>
            <a:srgbClr val="D6EAF8"/>
          </a:solidFill>
          <a:ln w="508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5852160" y="2048256"/>
            <a:ext cx="2962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C5E"/>
                </a:solidFill>
              </a:rPr>
              <a:t>MAX(caseversion): </a:t>
            </a:r>
            <a:r>
              <a:rPr lang="en-US" sz="800" dirty="0">
                <a:solidFill>
                  <a:srgbClr val="1A1A2E"/>
                </a:solidFill>
              </a:rPr>
              <a:t>Keep only the most recent version number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440680" y="2578608"/>
            <a:ext cx="310896" cy="310896"/>
          </a:xfrm>
          <a:prstGeom prst="ellipse">
            <a:avLst/>
          </a:prstGeom>
          <a:solidFill>
            <a:srgbClr val="1E7A8C"/>
          </a:solidFill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5440680" y="2578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5806440" y="2578608"/>
            <a:ext cx="3035808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5852160" y="2578608"/>
            <a:ext cx="2962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C5E"/>
                </a:solidFill>
              </a:rPr>
              <a:t>Tie-break FDA_DT: </a:t>
            </a:r>
            <a:r>
              <a:rPr lang="en-US" sz="800" dirty="0">
                <a:solidFill>
                  <a:srgbClr val="1A1A2E"/>
                </a:solidFill>
              </a:rPr>
              <a:t>If same version, keep the latest FDA submission date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440680" y="3108960"/>
            <a:ext cx="310896" cy="310896"/>
          </a:xfrm>
          <a:prstGeom prst="ellipse">
            <a:avLst/>
          </a:prstGeom>
          <a:solidFill>
            <a:srgbClr val="1E7A8C"/>
          </a:solidFill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5440680" y="3108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5806440" y="3108960"/>
            <a:ext cx="3035808" cy="310896"/>
          </a:xfrm>
          <a:prstGeom prst="rect">
            <a:avLst/>
          </a:prstGeom>
          <a:solidFill>
            <a:srgbClr val="D6EAF8"/>
          </a:solidFill>
          <a:ln w="508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5852160" y="3108960"/>
            <a:ext cx="2962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C5E"/>
                </a:solidFill>
              </a:rPr>
              <a:t>Flag older rows: </a:t>
            </a:r>
            <a:r>
              <a:rPr lang="en-US" sz="800" dirty="0">
                <a:solidFill>
                  <a:srgbClr val="1A1A2E"/>
                </a:solidFill>
              </a:rPr>
              <a:t>Mark older reports as is_superseded = TRUE (never deleted)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5440680" y="3639312"/>
            <a:ext cx="310896" cy="310896"/>
          </a:xfrm>
          <a:prstGeom prst="ellipse">
            <a:avLst/>
          </a:prstGeom>
          <a:solidFill>
            <a:srgbClr val="1E7A8C"/>
          </a:solidFill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5440680" y="36393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5806440" y="3639312"/>
            <a:ext cx="3035808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5852160" y="3639312"/>
            <a:ext cx="2962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C5E"/>
                </a:solidFill>
              </a:rPr>
              <a:t>Analytics filter: </a:t>
            </a:r>
            <a:r>
              <a:rPr lang="en-US" sz="800" dirty="0">
                <a:solidFill>
                  <a:srgbClr val="1A1A2E"/>
                </a:solidFill>
              </a:rPr>
              <a:t>All PRR/ROR/IC/EBGM run on WHERE NOT is_superseded only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5349240" y="4297680"/>
            <a:ext cx="3566160" cy="475488"/>
          </a:xfrm>
          <a:prstGeom prst="rect">
            <a:avLst/>
          </a:prstGeom>
          <a:solidFill>
            <a:srgbClr val="D6EAF8"/>
          </a:solidFill>
          <a:ln w="1016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5440680" y="4315968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3C5E"/>
                </a:solidFill>
              </a:rPr>
              <a:t>Proof: Matches deduplication strategy of Tian et al. (2025), Resp. Drugs (2026), Li et al. (2025) — all 3 top-tier papers use this exact MAX(caseversion) + MAX(FDA_DT) approach. PulseTech automates what they did manually.</a:t>
            </a:r>
            <a:endParaRPr lang="en-US" sz="780" dirty="0"/>
          </a:p>
        </p:txBody>
      </p:sp>
      <p:sp>
        <p:nvSpPr>
          <p:cNvPr id="89" name="Shape 87"/>
          <p:cNvSpPr/>
          <p:nvPr/>
        </p:nvSpPr>
        <p:spPr>
          <a:xfrm>
            <a:off x="228600" y="4315968"/>
            <a:ext cx="5047488" cy="47548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320040" y="4315968"/>
            <a:ext cx="4882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</a:rPr>
              <a:t>"Our system scans 12+ million rows across all 5 years and automatically travels back in time to flag superseded cases — guaranteeing 100% accurate patient counts without any manual intervention."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182880" y="4965192"/>
            <a:ext cx="877824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E82"/>
                </a:solidFill>
              </a:rPr>
              <a:t>PulseTech (ANC-031) | MIT Vishwaprayag University, Solapur | FAERS 2021–2025 Pediatric ADR Research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A5 — Defence — Why the 68% Neonate AUC Is Our Biggest Proof of Innovation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613648" y="91440"/>
            <a:ext cx="438912" cy="320040"/>
          </a:xfrm>
          <a:prstGeom prst="ellipse">
            <a:avLst/>
          </a:prstGeom>
          <a:solidFill>
            <a:srgbClr val="1E7A8C"/>
          </a:solidFill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13648" y="9144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E82"/>
                </a:solidFill>
              </a:rPr>
              <a:t>PulseTech (ANC-031) | MIT Vishwaprayag University, Solapur | FAERS 2021–2025 Pediatric ADR Research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594360"/>
            <a:ext cx="8686800" cy="512064"/>
          </a:xfrm>
          <a:prstGeom prst="rect">
            <a:avLst/>
          </a:prstGeom>
          <a:solidFill>
            <a:srgbClr val="D6EAF8"/>
          </a:solidFill>
          <a:ln w="1524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59436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A3C5E"/>
                </a:solidFill>
              </a:rPr>
              <a:t>“The variance in our ML accuracy is the ultimate proof that our core hypothesis is correct: Neonates are not just 'small adolescents.'"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8600" y="1207008"/>
            <a:ext cx="2834640" cy="3456432"/>
          </a:xfrm>
          <a:prstGeom prst="rect">
            <a:avLst/>
          </a:prstGeom>
          <a:solidFill>
            <a:srgbClr val="D6E8F7"/>
          </a:solidFill>
          <a:ln w="12700">
            <a:solidFill>
              <a:srgbClr val="0D4F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28600" y="1207008"/>
            <a:ext cx="2834640" cy="384048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01752" y="1252728"/>
            <a:ext cx="292608" cy="29260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01752" y="1252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1</a:t>
            </a:r>
            <a:endParaRPr lang="en-US" sz="1300" dirty="0">
              <a:solidFill>
                <a:schemeClr val="tx2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9224" y="1252728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Data Volume Factor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1752" y="1636776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93192" y="1664208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ADOLESCENT: ~47,000 records/quarter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121408"/>
            <a:ext cx="2651760" cy="438912"/>
          </a:xfrm>
          <a:prstGeom prst="rect">
            <a:avLst/>
          </a:prstGeom>
          <a:solidFill>
            <a:srgbClr val="D6E8F7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93192" y="2139696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NEONATE: ~2,100 records/quarter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596896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93192" y="2615184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ML algorithms naturally learn better with larger datasets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072384"/>
            <a:ext cx="2651760" cy="438912"/>
          </a:xfrm>
          <a:prstGeom prst="rect">
            <a:avLst/>
          </a:prstGeom>
          <a:solidFill>
            <a:srgbClr val="D6E8F7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93192" y="3090672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Adolescent AUC 0.8425 = rich, dense training data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547872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93192" y="3566160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Neonate AUC 0.6774 = sparse — harder to learn from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023360"/>
            <a:ext cx="2651760" cy="438912"/>
          </a:xfrm>
          <a:prstGeom prst="rect">
            <a:avLst/>
          </a:prstGeom>
          <a:solidFill>
            <a:srgbClr val="D6E8F7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93192" y="4041648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Conclusion: Low neonate accuracy is statistically expected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72968" y="1207008"/>
            <a:ext cx="2834640" cy="3456432"/>
          </a:xfrm>
          <a:prstGeom prst="rect">
            <a:avLst/>
          </a:prstGeom>
          <a:solidFill>
            <a:srgbClr val="D6F0E8"/>
          </a:solidFill>
          <a:ln w="12700">
            <a:solidFill>
              <a:srgbClr val="0F6E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172968" y="1207008"/>
            <a:ext cx="2834640" cy="38404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246120" y="1252728"/>
            <a:ext cx="292608" cy="29260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246120" y="1252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2</a:t>
            </a:r>
            <a:endParaRPr lang="en-US" sz="1300" dirty="0">
              <a:solidFill>
                <a:schemeClr val="tx2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3593592" y="1252728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Clinical Complexity (Noise) Factor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64408" y="1645920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337560" y="1664208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Adolescent ADRs: direct cause-and-effect (antidepressant → suicidal ideation) — ML learns easily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46120" y="2162556"/>
            <a:ext cx="2651760" cy="438912"/>
          </a:xfrm>
          <a:prstGeom prst="rect">
            <a:avLst/>
          </a:prstGeom>
          <a:solidFill>
            <a:srgbClr val="D6F0E8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337560" y="2221992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Neonate ADRs: chaotic — caused by congenital defects, birth complications, OR maternal drug exposure via breast milk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94538" y="2766060"/>
            <a:ext cx="268189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392424" y="2788920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Gray Baby Syndrome (Chloramphenicol): fatal in neonates, perfectly safe for a 16-year-old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46270" y="3310128"/>
            <a:ext cx="2651760" cy="438912"/>
          </a:xfrm>
          <a:prstGeom prst="rect">
            <a:avLst/>
          </a:prstGeom>
          <a:solidFill>
            <a:srgbClr val="D6F0E8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392649" y="3300160"/>
            <a:ext cx="235870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Same drug — radically different biological response across age bands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94538" y="3922776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418432" y="3921277"/>
            <a:ext cx="23437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This noise makes neonate prediction fundamentally harder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17336" y="1207008"/>
            <a:ext cx="2834640" cy="3456432"/>
          </a:xfrm>
          <a:prstGeom prst="rect">
            <a:avLst/>
          </a:prstGeom>
          <a:solidFill>
            <a:srgbClr val="FEF0E4"/>
          </a:solidFill>
          <a:ln w="12700">
            <a:solidFill>
              <a:srgbClr val="E07B3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117336" y="1207008"/>
            <a:ext cx="2834640" cy="38404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190488" y="1252728"/>
            <a:ext cx="292608" cy="29260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190488" y="1252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3</a:t>
            </a:r>
            <a:endParaRPr lang="en-US" sz="1300" dirty="0">
              <a:solidFill>
                <a:schemeClr val="tx2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6537960" y="1252728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The </a:t>
            </a:r>
            <a:r>
              <a:rPr lang="en-US" sz="950" b="1">
                <a:solidFill>
                  <a:srgbClr val="FFFFFF"/>
                </a:solidFill>
              </a:rPr>
              <a:t>Core concept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33660" y="1736948"/>
            <a:ext cx="2651760" cy="438912"/>
          </a:xfrm>
          <a:prstGeom prst="rect">
            <a:avLst/>
          </a:prstGeom>
          <a:solidFill>
            <a:srgbClr val="FDECEA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282752" y="170910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1A1A"/>
                </a:solidFill>
              </a:rPr>
              <a:t>✗ Wrong pitch: 'We can't give adolescent medicines to neonates' (clinically inaccurate — we do give same medicines e.g. ibuprofen)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208776" y="2272696"/>
            <a:ext cx="2651760" cy="438912"/>
          </a:xfrm>
          <a:prstGeom prst="rect">
            <a:avLst/>
          </a:prstGeom>
          <a:solidFill>
            <a:srgbClr val="D6F0E8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318504" y="2267712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F6E56"/>
                </a:solidFill>
              </a:rPr>
              <a:t>✓ Correct pitch: 'We cannot apply adolescent safety PROFILES to neonates'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208776" y="2834640"/>
            <a:ext cx="2670048" cy="5523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318504" y="2944368"/>
            <a:ext cx="239737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If we lumped 0-year-olds and 18-year-olds together, the 84% adolescent data would overpower and completely mask critical neonate dangers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08776" y="3300160"/>
            <a:ext cx="2651760" cy="438912"/>
          </a:xfrm>
          <a:prstGeom prst="rect">
            <a:avLst/>
          </a:prstGeom>
          <a:solidFill>
            <a:srgbClr val="FEF0E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281928" y="3326167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The AUC gap PROVES our stratification is necessary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27064" y="3922776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318504" y="3931920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A tool that reports '81% accuracy' for all pediatrics is hiding neonate risk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28600" y="4700016"/>
            <a:ext cx="8686800" cy="25603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320040" y="4700016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Key stat: Mixing all pediatric groups → reported AUC ≈ 0.81 (misleadingly high). Stratified per ICH E11 → reveals true neonate AUC 0.6774, exposing the hidden safety gap that would otherwise be invisible.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182880" y="4965192"/>
            <a:ext cx="877824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E82"/>
                </a:solidFill>
              </a:rPr>
              <a:t>PulseTech (ANC-031) | MIT Vishwaprayag University, Solapur | FAERS 2021–2025 Pediatric ADR Research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Who Will Benefit from PulseTech?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522208" y="91440"/>
            <a:ext cx="310896" cy="31089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522208" y="91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600" y="658368"/>
            <a:ext cx="4251960" cy="1600200"/>
          </a:xfrm>
          <a:prstGeom prst="rect">
            <a:avLst/>
          </a:prstGeom>
          <a:solidFill>
            <a:srgbClr val="EAF7F8"/>
          </a:solidFill>
          <a:ln w="19050">
            <a:solidFill>
              <a:srgbClr val="1E7A8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28600" y="658368"/>
            <a:ext cx="91440" cy="1600200"/>
          </a:xfrm>
          <a:prstGeom prst="rect">
            <a:avLst/>
          </a:prstGeom>
          <a:solidFill>
            <a:srgbClr val="1E7A8C"/>
          </a:solidFill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11480" y="768096"/>
            <a:ext cx="347472" cy="347472"/>
          </a:xfrm>
          <a:prstGeom prst="ellipse">
            <a:avLst/>
          </a:prstGeom>
          <a:solidFill>
            <a:srgbClr val="1E7A8C"/>
          </a:solidFill>
          <a:ln w="12700">
            <a:solidFill>
              <a:srgbClr val="1E7A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1480" y="7680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76809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A8C"/>
                </a:solidFill>
              </a:rPr>
              <a:t>Pediatricians &amp; Clinicians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3192" y="1161288"/>
            <a:ext cx="3977640" cy="0"/>
          </a:xfrm>
          <a:prstGeom prst="line">
            <a:avLst/>
          </a:prstGeom>
          <a:noFill/>
          <a:ln w="6350">
            <a:solidFill>
              <a:srgbClr val="1E7A8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1480" y="1225296"/>
            <a:ext cx="3986784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</a:rPr>
              <a:t>Real-time access to age-stratified drug safety signals (NEONATE → ADOLESCENT). Know which drugs are safe for a 2-year-old vs a 16-year-old — based on 3.42M real patient records.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90872" y="658368"/>
            <a:ext cx="4251960" cy="1600200"/>
          </a:xfrm>
          <a:prstGeom prst="rect">
            <a:avLst/>
          </a:prstGeom>
          <a:solidFill>
            <a:srgbClr val="FEF3E8"/>
          </a:solidFill>
          <a:ln w="19050">
            <a:solidFill>
              <a:srgbClr val="E07B3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90872" y="658368"/>
            <a:ext cx="91440" cy="16002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873752" y="768096"/>
            <a:ext cx="347472" cy="34747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73752" y="7680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30952" y="76809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B39"/>
                </a:solidFill>
              </a:rPr>
              <a:t>FDA &amp; Regulatory Bodies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55464" y="1161288"/>
            <a:ext cx="3977640" cy="0"/>
          </a:xfrm>
          <a:prstGeom prst="line">
            <a:avLst/>
          </a:prstGeom>
          <a:noFill/>
          <a:ln w="6350">
            <a:solidFill>
              <a:srgbClr val="E07B39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73752" y="1225296"/>
            <a:ext cx="3986784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</a:rPr>
              <a:t>Instant visual detection of critical safety signals via PRR/ROR/IC/EBGM dashboards. Issue timely Black Box Warnings for pediatric drugs without a team of data scientists manually writing SQL.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28600" y="2395728"/>
            <a:ext cx="4251960" cy="1600200"/>
          </a:xfrm>
          <a:prstGeom prst="rect">
            <a:avLst/>
          </a:prstGeom>
          <a:solidFill>
            <a:srgbClr val="EAF6EF"/>
          </a:solidFill>
          <a:ln w="19050">
            <a:solidFill>
              <a:srgbClr val="1E8C5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28600" y="2395728"/>
            <a:ext cx="91440" cy="1600200"/>
          </a:xfrm>
          <a:prstGeom prst="rect">
            <a:avLst/>
          </a:prstGeom>
          <a:solidFill>
            <a:srgbClr val="1E8C5A"/>
          </a:solidFill>
          <a:ln w="12700">
            <a:solidFill>
              <a:srgbClr val="1E8C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11480" y="2505456"/>
            <a:ext cx="347472" cy="347472"/>
          </a:xfrm>
          <a:prstGeom prst="ellipse">
            <a:avLst/>
          </a:prstGeom>
          <a:solidFill>
            <a:srgbClr val="1E8C5A"/>
          </a:solidFill>
          <a:ln w="12700">
            <a:solidFill>
              <a:srgbClr val="1E8C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11480" y="25054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③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250545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C5A"/>
                </a:solidFill>
              </a:rPr>
              <a:t>Pharmacovigilance Researchers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3192" y="2898648"/>
            <a:ext cx="3977640" cy="0"/>
          </a:xfrm>
          <a:prstGeom prst="line">
            <a:avLst/>
          </a:prstGeom>
          <a:noFill/>
          <a:ln w="6350">
            <a:solidFill>
              <a:srgbClr val="1E8C5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11480" y="2962656"/>
            <a:ext cx="3986784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</a:rPr>
              <a:t>Generate 5-year longitudinal statistical reports instantly. Replace 3 months of manual FAERS wrangling with a 15-second automated pipeline. 36,206 validated signals ready to publish.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90872" y="2395728"/>
            <a:ext cx="4251960" cy="1600200"/>
          </a:xfrm>
          <a:prstGeom prst="rect">
            <a:avLst/>
          </a:prstGeom>
          <a:solidFill>
            <a:srgbClr val="F0EEF9"/>
          </a:solidFill>
          <a:ln w="19050">
            <a:solidFill>
              <a:srgbClr val="533AB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690872" y="2395728"/>
            <a:ext cx="91440" cy="1600200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73752" y="2505456"/>
            <a:ext cx="347472" cy="347472"/>
          </a:xfrm>
          <a:prstGeom prst="ellipse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873752" y="25054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④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30952" y="250545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33AB7"/>
                </a:solidFill>
              </a:rPr>
              <a:t>Pharmaceutical Industry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55464" y="2898648"/>
            <a:ext cx="3977640" cy="0"/>
          </a:xfrm>
          <a:prstGeom prst="line">
            <a:avLst/>
          </a:prstGeom>
          <a:noFill/>
          <a:ln w="6350">
            <a:solidFill>
              <a:srgbClr val="533AB7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873752" y="2962656"/>
            <a:ext cx="3986784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</a:rPr>
              <a:t>Monitor Phase IV post-market safety profiles specifically in pediatric populations. Identify ADR signals before regulatory agencies do — early label revision reduces liability.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28600" y="4315968"/>
            <a:ext cx="8686800" cy="594360"/>
          </a:xfrm>
          <a:prstGeom prst="rect">
            <a:avLst/>
          </a:prstGeom>
          <a:solidFill>
            <a:srgbClr val="F4F8FB"/>
          </a:solidFill>
          <a:ln w="1016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4334256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C5E"/>
                </a:solidFill>
              </a:rPr>
              <a:t>36,206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438912" y="4626864"/>
            <a:ext cx="1536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E82"/>
                </a:solidFill>
              </a:rPr>
              <a:t>Drug-ADR Signals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103120" y="4352544"/>
            <a:ext cx="0" cy="502920"/>
          </a:xfrm>
          <a:prstGeom prst="line">
            <a:avLst/>
          </a:prstGeom>
          <a:noFill/>
          <a:ln w="762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157984" y="4334256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C5E"/>
                </a:solidFill>
              </a:rPr>
              <a:t>80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2157984" y="4626864"/>
            <a:ext cx="1536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E82"/>
                </a:solidFill>
              </a:rPr>
              <a:t>GNN Models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822192" y="4352544"/>
            <a:ext cx="0" cy="502920"/>
          </a:xfrm>
          <a:prstGeom prst="line">
            <a:avLst/>
          </a:prstGeom>
          <a:noFill/>
          <a:ln w="762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877056" y="4334256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C5E"/>
                </a:solidFill>
              </a:rPr>
              <a:t>0.8425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3877056" y="4626864"/>
            <a:ext cx="1536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E82"/>
                </a:solidFill>
              </a:rPr>
              <a:t>Peak AUC (ADOL)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541264" y="4352544"/>
            <a:ext cx="0" cy="502920"/>
          </a:xfrm>
          <a:prstGeom prst="line">
            <a:avLst/>
          </a:prstGeom>
          <a:noFill/>
          <a:ln w="762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596128" y="4334256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C5E"/>
                </a:solidFill>
              </a:rPr>
              <a:t>3.42M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5596128" y="4626864"/>
            <a:ext cx="1536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E82"/>
                </a:solidFill>
              </a:rPr>
              <a:t>Ped. Records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260336" y="4352544"/>
            <a:ext cx="0" cy="502920"/>
          </a:xfrm>
          <a:prstGeom prst="line">
            <a:avLst/>
          </a:prstGeom>
          <a:noFill/>
          <a:ln w="762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7315200" y="4334256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C5E"/>
                </a:solidFill>
              </a:rPr>
              <a:t>100%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7315200" y="4626864"/>
            <a:ext cx="1536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E82"/>
                </a:solidFill>
              </a:rPr>
              <a:t>Train Success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E82"/>
                </a:solidFill>
              </a:rPr>
              <a:t>PulseTech (ANC-031) | MIT Vishwaprayag University, Solapur | FAERS 2021–2025 Pediatric ADR Research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3451</Words>
  <Application>Microsoft Office PowerPoint</Application>
  <PresentationFormat>On-screen Show (16:9)</PresentationFormat>
  <Paragraphs>646</Paragraphs>
  <Slides>15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PulseTech - FAERS Pediatric ADR Research Proposal</dc:title>
  <dc:subject>PptxGenJS Presentation</dc:subject>
  <dc:creator>Atherv Telkar, Amey Telkar, Abhishek Kamble, Rushikesh Chintapalli</dc:creator>
  <cp:lastModifiedBy>Amey Telkar</cp:lastModifiedBy>
  <cp:revision>5</cp:revision>
  <dcterms:created xsi:type="dcterms:W3CDTF">2026-04-29T04:55:45Z</dcterms:created>
  <dcterms:modified xsi:type="dcterms:W3CDTF">2026-09-21T06:22:09Z</dcterms:modified>
</cp:coreProperties>
</file>